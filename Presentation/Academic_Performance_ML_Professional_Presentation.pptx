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presentation shows the completed Year-1 CGPA prediction phase, how it connects to the reference academic-performance dataset paper, and how the work is being extended to research participation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as an early warning and learning analytics problem. Emphasize that the model is useful for prediction and analysis, not for making unsupported causal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clearly: the paper is the base inspiration and data-science context. It does not publish a directly comparable accuracy benchmark, so I compare design and contribution rather than claiming superiority.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combines academic, institutional, family, socioeconomic, and preference features. The Year-1 target has five ordered CGPA categories, but it is modeled as a nominal multiclass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one-sentence formulation: using 23 predictors to classify a student into one of five Year-1 CGPA bands. Mention leakage control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experimental discipline: broad exploration first, final locked pipeline second. This justifies why WEKA and Python both appear in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model selection evidence. Explain that ZeroR is the naive baseline. The improvement over ZeroR shows the models learned signal; RandomForest was the best practical choice from the WEKA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that the final score is not just cross-validation. There was a train/validation/test split, the model was selected on validation, then evaluated once 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result. Do not oversell it: it is a meaningful but not perfect multiclass prediction model. The strongest metric is ROC-AUC, while Kappa shows room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confusion matrix shows the model often confuses neighboring CGPA categories, which is expected because these are close performance bands. The highest class F1 is for above 3.75.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strongest research findings: top-ranked features are informative, but not sufficient. Feature selection is not automatically good, especially for nonlinear ensemble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designed for the viva. If asked whether the project beats the paper, answer no: the paper is not a model benchmark. The contribution is a local dataset, broad ML experiment, and reproducible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not replacing the completed Year-1 task. It is the next target. The binary formulation is preferred first because the original five classes are imbalanced.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maturity. A strong presentation acknowledges caveats instead of hiding them. Especially mention test split timing and synthetic data transparency.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confidence: completed work, numerical result, scientific insight, and next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optional during presentation but useful for questions. It lists exactly where the numbers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601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Performance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76656" y="2331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</a:rPr>
              <a:t>Educational Data Mining project using WEKA benchmarks and a reproducible Python final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4944" y="3035808"/>
            <a:ext cx="2606040" cy="3200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</a:rPr>
              <a:t>Year-1 CGPA multiclass classification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3035808"/>
            <a:ext cx="2606040" cy="32004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ResearchParticipation extension ready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Final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RandomForest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629400" y="2359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59.85%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29400" y="28620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held-out test 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32520" y="23591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0.598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732520" y="28620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04120" y="23591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0.862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104120" y="28620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weighted ROC-AUC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840480"/>
            <a:ext cx="4846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Thesis-style claim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0F172A"/>
                </a:solidFill>
              </a:rPr>
              <a:t>A controlled ML workflow can predict early university performance with meaningful discrimination, while feature selection must be handled carefully to avoid removing contextual signal.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685800" y="6236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Prepared from the project handover, final result files, and reference paper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Professional presentation deck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student records to early academic-risk insight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0F172A"/>
                </a:solidFill>
              </a:rPr>
              <a:t>Universities often see performance problems after they happen. The goal is to predict student performance early enough to guide support and planning.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ML CONTRIBUTION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• Frame Year-1 CGPA as a five-class prediction task.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40690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• Compare broad model families before selecting a champion.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45262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• Lock a final train/validation/test protocol for reproducibility.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150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Input signals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874520"/>
            <a:ext cx="1783080" cy="3200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</a:rPr>
              <a:t>Pre-university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57800" y="233172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HSC marks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College background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Family context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7104888" y="2889504"/>
            <a:ext cx="320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06640" y="1874520"/>
            <a:ext cx="1783080" cy="32004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Admission context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06640" y="233172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Faculty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Institution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Preference order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9253728" y="2889504"/>
            <a:ext cx="320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555480" y="1874520"/>
            <a:ext cx="1783080" cy="32004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Outcome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55480" y="2331720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Year-1 CGPA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5 performance classes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303520" y="4160520"/>
            <a:ext cx="5120640" cy="50292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</a:rPr>
              <a:t>The practical aim: identify performance patterns, not claim causality.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349240" y="48920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The deck separates predictive evidence from causal claims and clearly flags leakage and data-provenance caveats.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paper: scope and limits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Delahoz-Dominguez, Zuluaga &amp; Fontalvo-Herrera, Data in Brief, 2020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846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F172A"/>
                </a:solidFill>
              </a:rPr>
              <a:t>The paper presents a Colombian engineering-student dataset built by linking national secondary-school and professional education assessments.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12,411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students / observations in the reference 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6324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44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63240" y="3291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variables in the reference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education moments: secondary + professional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REFERENCE 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5262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</a:rPr>
              <a:t>• It motivates academic-performance evolution, social variables, and educational data mining.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13232" y="49834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</a:rPr>
              <a:t>• It is a data article, not a directly comparable model-accuracy benchmark.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62940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How my project extends the idea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80760" y="2011680"/>
            <a:ext cx="1389888" cy="3474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70648" y="2011680"/>
            <a:ext cx="1463040" cy="3474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33688" y="2011680"/>
            <a:ext cx="1627632" cy="3474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61320" y="2011680"/>
            <a:ext cx="1389888" cy="3474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359152"/>
            <a:ext cx="1389888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Reference paper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7470648" y="2359152"/>
            <a:ext cx="146304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Dataset construction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8933688" y="2359152"/>
            <a:ext cx="1627632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Public national exams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10561320" y="2359152"/>
            <a:ext cx="1389888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No model leaderboard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6080760" y="3035808"/>
            <a:ext cx="1389888" cy="676656"/>
          </a:xfrm>
          <a:prstGeom prst="rect">
            <a:avLst/>
          </a:prstGeom>
          <a:solidFill>
            <a:srgbClr val="ECFE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This project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7470648" y="3035808"/>
            <a:ext cx="1463040" cy="676656"/>
          </a:xfrm>
          <a:prstGeom prst="rect">
            <a:avLst/>
          </a:prstGeom>
          <a:solidFill>
            <a:srgbClr val="ECFE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Prediction pipeline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8933688" y="3035808"/>
            <a:ext cx="1627632" cy="676656"/>
          </a:xfrm>
          <a:prstGeom prst="rect">
            <a:avLst/>
          </a:prstGeom>
          <a:solidFill>
            <a:srgbClr val="ECFE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Survey + academic context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10561320" y="3035808"/>
            <a:ext cx="1389888" cy="676656"/>
          </a:xfrm>
          <a:prstGeom prst="rect">
            <a:avLst/>
          </a:prstGeom>
          <a:solidFill>
            <a:srgbClr val="ECFE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F172A"/>
                </a:solidFill>
              </a:rPr>
              <a:t>Benchmarks + held-out test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172200" y="4187952"/>
            <a:ext cx="4800600" cy="58521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Correct comparison: dataset purpose and methodology, not “my accuracy is higher.”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217920" y="49560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0F172A"/>
                </a:solidFill>
              </a:rPr>
              <a:t>This keeps the presentation defensible during questions: the paper supports the research direction, while the new project contributes a concrete ML experiment and reproducible evaluation.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Source: reference paper + project handover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used in this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Bangladesh engineering-student survey dataset, cleaned for prediction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3,516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records in the final Year-1 dataset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32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19202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raw survey columns before target-specific selection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24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final Year-1 modeling attributes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Year-1 CGPA classes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Feature groups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3429000"/>
            <a:ext cx="1508760" cy="310896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E3A8A"/>
                </a:solidFill>
              </a:rPr>
              <a:t>Academic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423160" y="3456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HSC Math, Physics, Chemistry; college attendance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49808" y="3959352"/>
            <a:ext cx="1508760" cy="310896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Institutional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423160" y="39867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Faculty, current institution, college category/location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49808" y="4489704"/>
            <a:ext cx="1508760" cy="31089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A580C"/>
                </a:solidFill>
              </a:rPr>
              <a:t>Socioeconomic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423160" y="45171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Family size, income, HSC expenditure, internet/computer access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49808" y="5020056"/>
            <a:ext cx="1508760" cy="310896"/>
          </a:xfrm>
          <a:prstGeom prst="rect">
            <a:avLst/>
          </a:prstGeom>
          <a:solidFill>
            <a:srgbClr val="F3E8FF"/>
          </a:solidFill>
          <a:ln>
            <a:solidFill>
              <a:srgbClr val="F3E8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C3AED"/>
                </a:solidFill>
              </a:rPr>
              <a:t>Family background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423160" y="50474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Father/mother education and employment sector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749808" y="5550408"/>
            <a:ext cx="1508760" cy="310896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A34A"/>
                </a:solidFill>
              </a:rPr>
              <a:t>Preference signals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2423160" y="5577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</a:rPr>
              <a:t>University and department preference order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0924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Year-1 CGPA class balance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18120" y="34930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3.25–3.50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125712" y="3511296"/>
            <a:ext cx="1389888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7" name="Text 25"/>
          <p:cNvSpPr/>
          <p:nvPr/>
        </p:nvSpPr>
        <p:spPr>
          <a:xfrm>
            <a:off x="10652760" y="34564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985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39044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3.50–3.75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9125712" y="3922776"/>
            <a:ext cx="1157064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0" name="Text 28"/>
          <p:cNvSpPr/>
          <p:nvPr/>
        </p:nvSpPr>
        <p:spPr>
          <a:xfrm>
            <a:off x="10652760" y="38679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820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43159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3.00–3.25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9125712" y="4334256"/>
            <a:ext cx="924240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3" name="Text 31"/>
          <p:cNvSpPr/>
          <p:nvPr/>
        </p:nvSpPr>
        <p:spPr>
          <a:xfrm>
            <a:off x="10652760" y="42793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655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18120" y="472744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Above 3.75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9125712" y="4745736"/>
            <a:ext cx="836755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6" name="Text 34"/>
          <p:cNvSpPr/>
          <p:nvPr/>
        </p:nvSpPr>
        <p:spPr>
          <a:xfrm>
            <a:off x="10652760" y="4690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593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18120" y="513892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&lt; 3.00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9125712" y="5157216"/>
            <a:ext cx="653318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9" name="Text 37"/>
          <p:cNvSpPr/>
          <p:nvPr/>
        </p:nvSpPr>
        <p:spPr>
          <a:xfrm>
            <a:off x="10652760" y="51023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463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task formulation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Target: Year1CGPA as a five-class nominal classification 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05840" cy="38404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971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23 leakage-controlled predictors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Academic + institutional + socioeconomic + family + preference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21024" y="2596896"/>
            <a:ext cx="9144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663440" y="1508760"/>
            <a:ext cx="1078992" cy="384048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2971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Broad WEKA comparison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Then RandomForest validation tuning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Then locked Python pipeline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96328" y="2596896"/>
            <a:ext cx="9144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12480" y="1508760"/>
            <a:ext cx="1097280" cy="384048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Output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18120" y="2011680"/>
            <a:ext cx="3337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Predicted Year-1 CGPA class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Above 3.75 · 3.50–3.75 · 3.25–3.50 · 3.00–3.25 · &lt; 3.00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9966960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</a:rPr>
              <a:t>Modeling choice: classification gives interpretable student-performance bands rather than a single numeric estimate.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</a:rPr>
              <a:t>• Early Year-1 setup excludes later university-period variables such as Year2CGPA and ResearchParticipation.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1005840" y="544068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</a:rPr>
              <a:t>• The target is predictive performance, not causal explanation of student outcomes.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raw survey table to final held-out test result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54480"/>
            <a:ext cx="2788920" cy="43891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3A8A"/>
                </a:solidFill>
              </a:rPr>
              <a:t>Raw 32-column survey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Initial data source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93008" y="2395728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61688" y="1554480"/>
            <a:ext cx="2788920" cy="43891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3A8A"/>
                </a:solidFill>
              </a:rPr>
              <a:t>Cleaning + field selection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361688" y="212140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Target-specific exclusions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96328" y="2395728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065008" y="1554480"/>
            <a:ext cx="2788920" cy="43891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766E"/>
                </a:solidFill>
              </a:rPr>
              <a:t>WEKA benchmark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065008" y="212140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Broad model-family sweep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3794760"/>
            <a:ext cx="2788920" cy="43891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766E"/>
                </a:solidFill>
              </a:rPr>
              <a:t>RF tuning + feature tests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8368" y="436168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Development evidence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493008" y="4636008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361688" y="3794760"/>
            <a:ext cx="2788920" cy="43891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A580C"/>
                </a:solidFill>
              </a:rPr>
              <a:t>Python split pipeline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361688" y="436168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70/15/15 protocol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96328" y="4636008"/>
            <a:ext cx="5943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065008" y="3794760"/>
            <a:ext cx="2788920" cy="43891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A580C"/>
                </a:solidFill>
              </a:rPr>
              <a:t>Locked final evaluation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065008" y="4361688"/>
            <a:ext cx="2788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One-time held-out test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012680" y="2816352"/>
            <a:ext cx="0" cy="768096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51560" y="5715000"/>
            <a:ext cx="9966960" cy="47548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</a:rPr>
              <a:t>Key principle: keep exploratory results as evidence, but report the final model through the locked Python pipeline.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WEKA benchmark: model-family sweep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RandomForest emerged as the strongest recorded development-stage baseline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538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ZeroR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761488" y="1472184"/>
            <a:ext cx="1753460" cy="16459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7" name="Text 5"/>
          <p:cNvSpPr/>
          <p:nvPr/>
        </p:nvSpPr>
        <p:spPr>
          <a:xfrm>
            <a:off x="6967728" y="1417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28.0%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8836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NaiveBayes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761488" y="1901952"/>
            <a:ext cx="2172263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0" name="Text 8"/>
          <p:cNvSpPr/>
          <p:nvPr/>
        </p:nvSpPr>
        <p:spPr>
          <a:xfrm>
            <a:off x="6967728" y="18470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34.7%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23134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J48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761488" y="2331720"/>
            <a:ext cx="3295955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3" name="Text 11"/>
          <p:cNvSpPr/>
          <p:nvPr/>
        </p:nvSpPr>
        <p:spPr>
          <a:xfrm>
            <a:off x="6967728" y="22768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52.6%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7432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MLP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761488" y="2761488"/>
            <a:ext cx="3505669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6" name="Text 14"/>
          <p:cNvSpPr/>
          <p:nvPr/>
        </p:nvSpPr>
        <p:spPr>
          <a:xfrm>
            <a:off x="6967728" y="27066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56.0%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172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IBk K=1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761488" y="3191256"/>
            <a:ext cx="3585798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9" name="Text 17"/>
          <p:cNvSpPr/>
          <p:nvPr/>
        </p:nvSpPr>
        <p:spPr>
          <a:xfrm>
            <a:off x="6967728" y="31363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57.3%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60273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KStar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761488" y="3621024"/>
            <a:ext cx="3634001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2" name="Text 20"/>
          <p:cNvSpPr/>
          <p:nvPr/>
        </p:nvSpPr>
        <p:spPr>
          <a:xfrm>
            <a:off x="6967728" y="35661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58.0%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403250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LMT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761488" y="4050792"/>
            <a:ext cx="3639010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5" name="Text 23"/>
          <p:cNvSpPr/>
          <p:nvPr/>
        </p:nvSpPr>
        <p:spPr>
          <a:xfrm>
            <a:off x="6967728" y="3995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58.1%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44622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RandomCommittee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761488" y="4480560"/>
            <a:ext cx="3646522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8" name="Text 26"/>
          <p:cNvSpPr/>
          <p:nvPr/>
        </p:nvSpPr>
        <p:spPr>
          <a:xfrm>
            <a:off x="6967728" y="44256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58.2%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48920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RandomForest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2761488" y="4910328"/>
            <a:ext cx="3776106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1" name="Text 29"/>
          <p:cNvSpPr/>
          <p:nvPr/>
        </p:nvSpPr>
        <p:spPr>
          <a:xfrm>
            <a:off x="6967728" y="48554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60.3%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53218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Tuned RF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761488" y="5340096"/>
            <a:ext cx="3815545" cy="16459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4" name="Text 32"/>
          <p:cNvSpPr/>
          <p:nvPr/>
        </p:nvSpPr>
        <p:spPr>
          <a:xfrm>
            <a:off x="6967728" y="52852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60.9%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1481328"/>
            <a:ext cx="2743200" cy="38404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Champion direction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09560" y="205740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RandomForest improved from a strong baseline to 60.95% WEKA cross-validation accuracy after tuning.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909560" y="3090672"/>
            <a:ext cx="3063240" cy="73152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Development-stage result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Not the final held-out test score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90956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benchmark is still valuable because it shows RandomForest was not chosen arbitrarily; it was selected after a wide model-family sweep.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validation protocol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final Python pipeline made evaluation reproducible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Fixed stratified split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3616158" cy="8229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Train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2461 rows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6161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69.99%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47678" y="1938528"/>
            <a:ext cx="774366" cy="8229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Validation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527 rows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47678" y="2834640"/>
            <a:ext cx="774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14.99%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2044" y="1938528"/>
            <a:ext cx="775836" cy="8229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528 rows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2044" y="2834640"/>
            <a:ext cx="775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15.02%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VALIDATION-SELECTED RANDOMFOREST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096512"/>
            <a:ext cx="3337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n_estimators = 100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max_features = sqrt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min_samples_leaf = 1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random_state =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Validation metrics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9110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Accuracy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092440" y="1929384"/>
            <a:ext cx="1642544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7" name="Text 15"/>
          <p:cNvSpPr/>
          <p:nvPr/>
        </p:nvSpPr>
        <p:spPr>
          <a:xfrm>
            <a:off x="10149840" y="1874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55.60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3865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Weighted Precision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092440" y="2404872"/>
            <a:ext cx="1687743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10149840" y="2350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57.13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862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Weighted F1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092440" y="2880360"/>
            <a:ext cx="1634567" cy="16459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3" name="Text 21"/>
          <p:cNvSpPr/>
          <p:nvPr/>
        </p:nvSpPr>
        <p:spPr>
          <a:xfrm>
            <a:off x="10149840" y="28254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55.33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3375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Macro F1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092440" y="3355848"/>
            <a:ext cx="1628364" cy="1645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6" name="Text 24"/>
          <p:cNvSpPr/>
          <p:nvPr/>
        </p:nvSpPr>
        <p:spPr>
          <a:xfrm>
            <a:off x="10149840" y="33009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55.12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8130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Kappa ×100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092440" y="3831336"/>
            <a:ext cx="1257019" cy="1645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9" name="Text 27"/>
          <p:cNvSpPr/>
          <p:nvPr/>
        </p:nvSpPr>
        <p:spPr>
          <a:xfrm>
            <a:off x="10149840" y="37764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42.55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4709160"/>
            <a:ext cx="4160520" cy="530352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Test split was kept untouched during final configuration selection.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held-out test result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Locked RandomForest refit on Train + Validation, evaluated once on Test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59.85%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62.02%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880360" y="2057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Weighted precision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59.84%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2057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60.33%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Macro F1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0" y="15544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</a:rPr>
              <a:t>0.481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961120" y="20574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Cohen’s Kappa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32720" y="1554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~0.862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332720" y="20574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Weighted ROC-AUC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2468880" cy="43891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</a:rPr>
              <a:t>Main reporting sentence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388620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The locked RandomForest achieved 59.85% accuracy, 0.598 weighted F1, 0.481 Cohen’s Kappa, approximately 0.862 weighted ROC-AUC, and approximately 0.715 weighted PRC-AUC on the held-out 528-row test split.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273552"/>
            <a:ext cx="2011680" cy="384048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88620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• Performance is well above the ZeroR baseline.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903720" y="437083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• ROC-AUC suggests useful ranking/discrimination ability.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03720" y="485546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• Moderate Kappa reflects that multiclass academic bands remain challenging.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model succeeds and struggles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Confusion matrix and class-level F1 reveal the pattern of errors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104138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Actual \ Predicted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71066" y="1508760"/>
            <a:ext cx="960120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3.00–3.25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631186" y="1508760"/>
            <a:ext cx="960120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3.25–3.50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3591306" y="1508760"/>
            <a:ext cx="960120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3.50–3.75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51426" y="1508760"/>
            <a:ext cx="960120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&gt;3.75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5511546" y="1508760"/>
            <a:ext cx="960120" cy="502920"/>
          </a:xfrm>
          <a:prstGeom prst="rect">
            <a:avLst/>
          </a:prstGeom>
          <a:solidFill>
            <a:srgbClr val="1E3A8A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&lt;3.00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1104138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3.00–3.25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1671066" y="2011680"/>
            <a:ext cx="960120" cy="50292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1186" y="2011680"/>
            <a:ext cx="960120" cy="50292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41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91306" y="201168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51426" y="201168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11546" y="201168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2514600"/>
            <a:ext cx="1104138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3.25–3.50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1671066" y="2514600"/>
            <a:ext cx="960120" cy="50292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19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31186" y="2514600"/>
            <a:ext cx="960120" cy="50292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91306" y="2514600"/>
            <a:ext cx="960120" cy="50292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21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51426" y="251460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11546" y="251460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017520"/>
            <a:ext cx="1104138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3.50–3.75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671066" y="301752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31186" y="3017520"/>
            <a:ext cx="960120" cy="50292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31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91306" y="3017520"/>
            <a:ext cx="960120" cy="50292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51426" y="301752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11546" y="301752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3520440"/>
            <a:ext cx="1104138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&gt;3.75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1671066" y="352044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31186" y="352044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9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91306" y="352044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51426" y="3520440"/>
            <a:ext cx="960120" cy="502920"/>
          </a:xfrm>
          <a:prstGeom prst="rect">
            <a:avLst/>
          </a:prstGeom>
          <a:solidFill>
            <a:srgbClr val="3B82F6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1546" y="352044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4023360"/>
            <a:ext cx="1104138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&lt;3.00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1671066" y="402336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8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631186" y="402336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17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591306" y="402336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6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51426" y="4023360"/>
            <a:ext cx="960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4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11546" y="4023360"/>
            <a:ext cx="960120" cy="50292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0664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Class F1-score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315200" y="19110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&gt;3.75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595360" y="1929384"/>
            <a:ext cx="1813844" cy="16459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4" name="Text 42"/>
          <p:cNvSpPr/>
          <p:nvPr/>
        </p:nvSpPr>
        <p:spPr>
          <a:xfrm>
            <a:off x="10698480" y="1874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73.8%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24140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&lt;3.00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595360" y="2432304"/>
            <a:ext cx="1535906" cy="1645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47" name="Text 45"/>
          <p:cNvSpPr/>
          <p:nvPr/>
        </p:nvSpPr>
        <p:spPr>
          <a:xfrm>
            <a:off x="10698480" y="23774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62.5%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291693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3.50–3.75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8595360" y="2935224"/>
            <a:ext cx="1509366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50" name="Text 48"/>
          <p:cNvSpPr/>
          <p:nvPr/>
        </p:nvSpPr>
        <p:spPr>
          <a:xfrm>
            <a:off x="10698480" y="2880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61.4%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34198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3.25–3.50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8595360" y="3438144"/>
            <a:ext cx="1430482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53" name="Text 51"/>
          <p:cNvSpPr/>
          <p:nvPr/>
        </p:nvSpPr>
        <p:spPr>
          <a:xfrm>
            <a:off x="10698480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58.2%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0" y="39227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3.00–3.25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8595360" y="3941064"/>
            <a:ext cx="1123300" cy="16459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56" name="Text 54"/>
          <p:cNvSpPr/>
          <p:nvPr/>
        </p:nvSpPr>
        <p:spPr>
          <a:xfrm>
            <a:off x="10698480" y="3886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45.7%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4400" y="5394960"/>
            <a:ext cx="10241280" cy="53035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</a:rPr>
              <a:t>Insight: the hardest errors occur around adjacent middle bands, especially between 3.00–3.25 and 3.25–3.50.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analysis: useful signal is broader than the top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main negative result: compact feature selection lost too much contextual information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Information Gain top signals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HSCMath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450592" y="1883664"/>
            <a:ext cx="2507930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5193792" y="1828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0.0818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27685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CurrentInstitution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450592" y="2295144"/>
            <a:ext cx="2424230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1" name="Text 9"/>
          <p:cNvSpPr/>
          <p:nvPr/>
        </p:nvSpPr>
        <p:spPr>
          <a:xfrm>
            <a:off x="5193792" y="2240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0.0791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HSCPhysics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450592" y="2706624"/>
            <a:ext cx="2020447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4" name="Text 12"/>
          <p:cNvSpPr/>
          <p:nvPr/>
        </p:nvSpPr>
        <p:spPr>
          <a:xfrm>
            <a:off x="5193792" y="2651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0.0659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3099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HSCChemistry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450592" y="3118104"/>
            <a:ext cx="1886466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7" name="Text 15"/>
          <p:cNvSpPr/>
          <p:nvPr/>
        </p:nvSpPr>
        <p:spPr>
          <a:xfrm>
            <a:off x="5193792" y="3063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0.0615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5112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MotherEducation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450592" y="3529584"/>
            <a:ext cx="865512" cy="1645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5193792" y="3474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0.0282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9227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CollegeCategory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450592" y="3941064"/>
            <a:ext cx="675424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3" name="Text 21"/>
          <p:cNvSpPr/>
          <p:nvPr/>
        </p:nvSpPr>
        <p:spPr>
          <a:xfrm>
            <a:off x="5193792" y="3886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0.0220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433425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FatherEducation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450592" y="4352544"/>
            <a:ext cx="647218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6" name="Text 24"/>
          <p:cNvSpPr/>
          <p:nvPr/>
        </p:nvSpPr>
        <p:spPr>
          <a:xfrm>
            <a:off x="5193792" y="4297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0.0211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47457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Faculty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2450592" y="4764024"/>
            <a:ext cx="644765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9" name="Text 27"/>
          <p:cNvSpPr/>
          <p:nvPr/>
        </p:nvSpPr>
        <p:spPr>
          <a:xfrm>
            <a:off x="5193792" y="47091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0.0210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Leakage-controlled feature-selection test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465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60.95%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46520" y="2423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Full tuned RandomForest accuracy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2304288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46404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36.69%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464040" y="2423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CFS + tuned RandomForest accuracy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3429000"/>
            <a:ext cx="4434840" cy="484632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Change: −24.26 percentage points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73952" y="4160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Interpretation: the four-feature core had strong direct signal, but removing other features also removed nonlinear and contextual interactions that RandomForest needed.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the reference paper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defensible comparison: scope, data design, and modeling contribution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1965960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Dimension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24328" y="1417320"/>
            <a:ext cx="1965960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Reference paper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0288" y="1417320"/>
            <a:ext cx="1965960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This project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56248" y="1417320"/>
            <a:ext cx="1965960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22208" y="1417320"/>
            <a:ext cx="1965960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 allowed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Records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2624328" y="18288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12,411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4590288" y="18288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3,516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6556248" y="18288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Different scale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8522208" y="18288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No direct accuracy comparison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58368" y="25146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Variables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2624328" y="25146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44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4590288" y="25146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32 raw / 24 Year-1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6556248" y="25146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Different feature space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8522208" y="25146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Inspired by EDM design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658368" y="32004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Data source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2624328" y="32004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National exam linkage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590288" y="32004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Survey + academic context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6556248" y="32004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Different setting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8522208" y="32004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New local dataset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658368" y="38862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Output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2624328" y="38862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Dataset article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4590288" y="38862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ML benchmark + final test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6556248" y="38862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Different contribution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522208" y="38862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Methodological extension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658368" y="45720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Final metric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2624328" y="45720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No model leaderboard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590288" y="45720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59.85% test accuracy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6556248" y="45720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Only this project has final ML score</a:t>
            </a:r>
            <a:endParaRPr lang="en-US" sz="1010" dirty="0"/>
          </a:p>
        </p:txBody>
      </p:sp>
      <p:sp>
        <p:nvSpPr>
          <p:cNvPr id="34" name="Text 32"/>
          <p:cNvSpPr/>
          <p:nvPr/>
        </p:nvSpPr>
        <p:spPr>
          <a:xfrm>
            <a:off x="8522208" y="4572000"/>
            <a:ext cx="196596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F172A"/>
                </a:solidFill>
              </a:rPr>
              <a:t>Report internally, not versus paper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868680" y="5577840"/>
            <a:ext cx="10058400" cy="53035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</a:rPr>
              <a:t>Best presentation wording: “Our work operationalizes a similar educational-data-mining motivation into a full predictive pipeline on a new survey dataset.”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Source: reference paper + project handover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phase: ResearchParticipation prediction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now extends from academic performance to research engagement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Raw target distribution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53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No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468880" y="1883664"/>
            <a:ext cx="2651760" cy="1645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5257800" y="1828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2241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Course/project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468880" y="2295144"/>
            <a:ext cx="571531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1" name="Text 9"/>
          <p:cNvSpPr/>
          <p:nvPr/>
        </p:nvSpPr>
        <p:spPr>
          <a:xfrm>
            <a:off x="5257800" y="2240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483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883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Student researcher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468880" y="2706624"/>
            <a:ext cx="384570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4" name="Text 12"/>
          <p:cNvSpPr/>
          <p:nvPr/>
        </p:nvSpPr>
        <p:spPr>
          <a:xfrm>
            <a:off x="5257800" y="2651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325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099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Research assistant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468880" y="3118104"/>
            <a:ext cx="275707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7" name="Text 15"/>
          <p:cNvSpPr/>
          <p:nvPr/>
        </p:nvSpPr>
        <p:spPr>
          <a:xfrm>
            <a:off x="5257800" y="3063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233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5112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Multiple projects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468880" y="3529584"/>
            <a:ext cx="233109" cy="1645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5257800" y="34747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197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9227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Missing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468880" y="3941064"/>
            <a:ext cx="43782" cy="16459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3" name="Text 21"/>
          <p:cNvSpPr/>
          <p:nvPr/>
        </p:nvSpPr>
        <p:spPr>
          <a:xfrm>
            <a:off x="5257800" y="3886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37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3,479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92240" y="1984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usable labeled rows after removing missing target rows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6112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35.58%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961120" y="19842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positive class after collapsing all Yes categories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2926080"/>
            <a:ext cx="1645920" cy="34747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Primary target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537960" y="34747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ResearchParticipationBinary: any “Yes” category → Participated; “No” → NotParticipated.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37960" y="4480560"/>
            <a:ext cx="242316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</a:rPr>
              <a:t>Two planned feature sets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65392" y="4983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RP-A: early/pre-university predictors for strict leakage control.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65392" y="54132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RP-B: enriched context after timing is justified.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Scientific controls and caveats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What makes the work defensible—and what must be disclosed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3886200" cy="38404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Leakage control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671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Exclude variables measured after or overlapping the outcome unless timing is justified.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3886200" cy="38404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Final test discipline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3616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Report the locked held-out test result; do not tune after viewing test performance.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3886200" cy="384048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Synthetic-data transparency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63640" y="21671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The archive contains synthetic generation and QC artifacts; final reporting must disclose any simulated/augmented records if included.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3703320"/>
            <a:ext cx="3886200" cy="384048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Causal caution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43616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Feature importance is predictive evidence, not proof that a variable causes higher/lower CGPA.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5852160"/>
            <a:ext cx="9692640" cy="475488"/>
          </a:xfrm>
          <a:prstGeom prst="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</a:rPr>
              <a:t>Improvement for the next phase: lock the ResearchParticipation test split before any broad model exploration.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Year-1 CGPA prediction + ResearchParticipation roadmap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34155"/>
                </a:solidFill>
              </a:rPr>
              <a:t>This project turns an educational-data-mining motivation into a completed, reproducible prediction workflow.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1417320" cy="34747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Completed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01000" y="932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Year-1 CGPA prediction with WEKA benchmarking, RF tuning, feature analysis, and final held-out test.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2057400"/>
            <a:ext cx="1417320" cy="34747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Result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01000" y="20299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Locked RandomForest: 59.85% accuracy, 0.598 weighted F1, ~0.862 ROC-AUC on 528-row test split.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3154680"/>
            <a:ext cx="1417320" cy="34747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Insight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01000" y="3127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Feature selection reduced performance sharply, showing that context and interactions matter.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4251960"/>
            <a:ext cx="1417320" cy="34747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01000" y="42245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ResearchParticipation prediction using leakage-safe binary target and locked splits.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546811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Suggested closing line: “The contribution is not just one accuracy number; it is a careful ML workflow, an audit trail, and a defensible next research direction.”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References: project handover, final result CSVs, Data in Brief 2020 reference paper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project artifacts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 these as the source trail during viva or report writing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2011680" cy="38404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Reference paper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Delahoz-Dominguez, E., Zuluaga, R., &amp; Fontalvo-Herrera, T. (2020). Dataset of academic performance evolution for engineering students. Data in Brief, 30, 105537.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194560" cy="384048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Project evidence used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</a:rPr>
              <a:t>• Academic_Performance_ML_Research_Participation_Handover.pdf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868680" y="418795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</a:rPr>
              <a:t>• E1_Year1CGPA_FinalClean.csv; train/validation/test splits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868680" y="462686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</a:rPr>
              <a:t>• final_classification_report.csv; final_confusion_matrix.csv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68680" y="506577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34155"/>
                </a:solidFill>
              </a:rPr>
              <a:t>• validation_random_forest_results.csv; quality-control report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6492240" y="1508760"/>
            <a:ext cx="2788920" cy="384048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Presentation integrity note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488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</a:rPr>
              <a:t>The reference article is cited as motivation and dataset methodology. The project’s performance numbers come from the project’s final result files, not from the reference paper.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37960" y="3794760"/>
            <a:ext cx="4297680" cy="59436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Core phrase to remember: “methodological extension, not direct benchmark superiority.”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4748B"/>
                </a:solidFill>
              </a:rPr>
              <a:t>Academic Performance ML Project · Source trail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Academic Performance ML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Performance Prediction using Educational Data Mining</dc:title>
  <dc:subject>Academic Performance ML Project</dc:subject>
  <dc:creator>ChatGPT</dc:creator>
  <cp:lastModifiedBy>ChatGPT</cp:lastModifiedBy>
  <cp:revision>1</cp:revision>
  <dcterms:created xsi:type="dcterms:W3CDTF">2026-09-05T15:32:05Z</dcterms:created>
  <dcterms:modified xsi:type="dcterms:W3CDTF">2026-09-05T15:32:05Z</dcterms:modified>
</cp:coreProperties>
</file>