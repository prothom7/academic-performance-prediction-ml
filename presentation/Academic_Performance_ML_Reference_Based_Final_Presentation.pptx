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78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3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give the whole project in under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safe comparison: same broad research area, different dataset and contribution. The paper motivates the use of social and academic variables; this project adds model evaluation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research framing slide. Make clear that the project has both application questions and a method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task-specific cleaning: fields excluded for Year‑1 are not necessarily useless forever; they were excluded for the prediction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matters because it answers whether the final result was tuned against Test. Phase 2 is stronger because the Test split was prospectively 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target distribution. The biggest class is 3.25–3.50, but the classes are not extremely imbalanced.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RandomForest was not selected by preference; it was selected because it led the broad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 key distinction: feature ranking tells us where direct signal is strong; it does not prove that other features are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strongest scientific points in the project. Negative results show good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result slide for Phase 1. Do not oversell the model; the five-class problem remains challenging.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attention on the confusion matrix. Adjacent CGPA band errors are understandable and should be reported transparently.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target conversion: all yes categories collapsed into Participated, No into NotParticipated, missing and duplicates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why the Phase 2 result is cleaner: the Test split was held out before model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is not only the 79% train-CV accuracy; it is that RandomForest detected participants while ZeroR detected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K=12 was selected: best train-CV F1 among tested K values and best Validation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crucial for avoiding the misconception that 81% accuracy means 81% of participants are detected. The participant recall is 61.83%.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Generalization stability is one of the strongest signs that the chosen model is not just a validation fluke.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directly comparing 59.85% and 81.03% as if the second task is automatically better. Binary tasks are often easier than five-class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cleanest direct comparison with the reference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the work can be audited and reproduced. Avoid discussing data-generation details unless asked; the reference document intentionally excluded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protects the scientific credibility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4692F-D1CF-D29E-B593-19D7CE27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5FF2A-30BE-51F2-BE9D-19FF818AD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CD671-C2A8-CAE0-A9A5-8C99A9CCF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protects the scientific credibility of the presentation.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8CBD8-CEBC-B748-FFD5-184B6ACF0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0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saying the next phase is not more Test tuning; it is robustness, reproducibility, and final paper/presentation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only. Use it if asked about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backup slide prevents the main deck from becoming too dense while still including benchmark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97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11480"/>
            <a:ext cx="10789920" cy="274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eb_image_640078b841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9436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62179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270"/>
                </a:solidFill>
                <a:latin typeface="Calibri"/>
              </a:rPr>
              <a:t>Khulna University of Engineering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241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111827"/>
                </a:solidFill>
                <a:latin typeface="Calibri"/>
              </a:rPr>
              <a:t>Academic Performance
Machine Learning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78892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B5563"/>
                </a:solidFill>
                <a:latin typeface="Calibri"/>
              </a:rPr>
              <a:t>Predicting CGPA and research participation with a clean, controlled machine-learning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365D"/>
                </a:solidFill>
                <a:latin typeface="Calibri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023360"/>
            <a:ext cx="4389120" cy="15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 err="1"/>
              <a:t>R</a:t>
            </a:r>
            <a:r>
              <a:rPr lang="en-US" dirty="0" err="1"/>
              <a:t>y</a:t>
            </a:r>
            <a:r>
              <a:rPr dirty="0" err="1"/>
              <a:t>sul</a:t>
            </a:r>
            <a:r>
              <a:rPr dirty="0"/>
              <a:t> Aman </a:t>
            </a:r>
            <a:r>
              <a:rPr dirty="0" err="1"/>
              <a:t>Nirob</a:t>
            </a:r>
            <a:r>
              <a:rPr dirty="0"/>
              <a:t> (2107092)</a:t>
            </a:r>
          </a:p>
          <a:p>
            <a:pPr>
              <a:spcAft>
                <a:spcPts val="1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 err="1"/>
              <a:t>Sadid</a:t>
            </a:r>
            <a:r>
              <a:rPr dirty="0"/>
              <a:t> Siddique </a:t>
            </a:r>
            <a:r>
              <a:rPr dirty="0" err="1"/>
              <a:t>Farib</a:t>
            </a:r>
            <a:r>
              <a:rPr dirty="0"/>
              <a:t> (2107094)</a:t>
            </a:r>
          </a:p>
          <a:p>
            <a:pPr>
              <a:spcAft>
                <a:spcPts val="1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/>
              <a:t>Prothom Ghosh (2107097)</a:t>
            </a:r>
          </a:p>
          <a:p>
            <a:pPr>
              <a:spcAft>
                <a:spcPts val="1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/>
              <a:t>Al </a:t>
            </a:r>
            <a:r>
              <a:rPr dirty="0" err="1"/>
              <a:t>Nahian</a:t>
            </a:r>
            <a:r>
              <a:rPr dirty="0"/>
              <a:t> Zarif (2107098)</a:t>
            </a:r>
          </a:p>
          <a:p>
            <a:pPr>
              <a:spcAft>
                <a:spcPts val="1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/>
              <a:t>Abdullah Al Mahmud (2107099)</a:t>
            </a:r>
          </a:p>
          <a:p>
            <a:pPr>
              <a:spcAft>
                <a:spcPts val="1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 err="1"/>
              <a:t>Biposhyan</a:t>
            </a:r>
            <a:r>
              <a:rPr dirty="0"/>
              <a:t> Chakma (2107121)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749039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365D"/>
                </a:solidFill>
                <a:latin typeface="Calibri"/>
              </a:rPr>
              <a:t>Course Teachers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023360"/>
            <a:ext cx="3383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rPr lang="en-US" dirty="0"/>
              <a:t>Prof. Dr. </a:t>
            </a:r>
            <a:r>
              <a:rPr lang="en-US" dirty="0" err="1"/>
              <a:t>Aminula</a:t>
            </a:r>
            <a:r>
              <a:rPr lang="en-US" dirty="0"/>
              <a:t> Haque </a:t>
            </a:r>
            <a:r>
              <a:rPr lang="en-US" dirty="0" err="1"/>
              <a:t>Akhand</a:t>
            </a:r>
            <a:endParaRPr dirty="0"/>
          </a:p>
          <a:p>
            <a:pPr>
              <a:spcAft>
                <a:spcPts val="1200"/>
              </a:spcAft>
              <a:defRPr sz="1500">
                <a:solidFill>
                  <a:srgbClr val="374151"/>
                </a:solidFill>
                <a:latin typeface="Calibri"/>
              </a:defRPr>
            </a:pPr>
            <a:r>
              <a:rPr lang="en-US" dirty="0"/>
              <a:t>Nabil Faiyaz Sadi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720840" y="3749039"/>
            <a:ext cx="13716" cy="169164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6400800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Department of CSE • Presentation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6422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presentation takeaway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research moved from educational-data motivation to two completed predictive studies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5477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PROJECT STORY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69164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This is not just a single model demo. It is a documented learning-analytics workflow with two prediction targets, broad model comparison, feature analysis, and final test evaluation.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6651" y="3851064"/>
            <a:ext cx="2196274" cy="6164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1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776653" y="4672339"/>
            <a:ext cx="2196272" cy="123299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Remove duplicates, missing data and remove any annotations in Bengali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03226" y="5288838"/>
            <a:ext cx="196186" cy="2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35014" y="3852510"/>
            <a:ext cx="2196274" cy="61649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2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3642233" y="4672339"/>
            <a:ext cx="2196272" cy="123299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Benchmark many classifier families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24448" y="5288834"/>
            <a:ext cx="196186" cy="2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413792" y="3857320"/>
            <a:ext cx="2196274" cy="61649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3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413794" y="4675225"/>
            <a:ext cx="2196272" cy="123299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Tune using development data only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9486" y="5288836"/>
            <a:ext cx="196186" cy="2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92570" y="3857320"/>
            <a:ext cx="2196274" cy="61649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4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9192572" y="4672339"/>
            <a:ext cx="2196272" cy="123299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Freeze and evaluate final test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02</a:t>
            </a:r>
            <a:endParaRPr lang="en-US" sz="820" dirty="0"/>
          </a:p>
        </p:txBody>
      </p:sp>
      <p:sp>
        <p:nvSpPr>
          <p:cNvPr id="25" name="Text 4"/>
          <p:cNvSpPr/>
          <p:nvPr/>
        </p:nvSpPr>
        <p:spPr>
          <a:xfrm>
            <a:off x="6854659" y="1216265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2563EB"/>
                </a:solidFill>
              </a:rPr>
              <a:t>59.85%</a:t>
            </a:r>
            <a:endParaRPr lang="en-US" sz="2650" dirty="0"/>
          </a:p>
        </p:txBody>
      </p:sp>
      <p:sp>
        <p:nvSpPr>
          <p:cNvPr id="26" name="Text 5"/>
          <p:cNvSpPr/>
          <p:nvPr/>
        </p:nvSpPr>
        <p:spPr>
          <a:xfrm>
            <a:off x="6854659" y="1682609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CGPA test accuracy</a:t>
            </a:r>
            <a:endParaRPr lang="en-US" sz="990" dirty="0"/>
          </a:p>
        </p:txBody>
      </p:sp>
      <p:sp>
        <p:nvSpPr>
          <p:cNvPr id="27" name="Text 6"/>
          <p:cNvSpPr/>
          <p:nvPr/>
        </p:nvSpPr>
        <p:spPr>
          <a:xfrm>
            <a:off x="8866339" y="1216265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0F766E"/>
                </a:solidFill>
              </a:rPr>
              <a:t>0.598</a:t>
            </a:r>
            <a:endParaRPr lang="en-US" sz="2650" dirty="0"/>
          </a:p>
        </p:txBody>
      </p:sp>
      <p:sp>
        <p:nvSpPr>
          <p:cNvPr id="28" name="Text 7"/>
          <p:cNvSpPr/>
          <p:nvPr/>
        </p:nvSpPr>
        <p:spPr>
          <a:xfrm>
            <a:off x="8866339" y="1682609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weighted F1</a:t>
            </a:r>
            <a:endParaRPr lang="en-US" sz="990" dirty="0"/>
          </a:p>
        </p:txBody>
      </p:sp>
      <p:sp>
        <p:nvSpPr>
          <p:cNvPr id="29" name="Shape 8"/>
          <p:cNvSpPr/>
          <p:nvPr/>
        </p:nvSpPr>
        <p:spPr>
          <a:xfrm>
            <a:off x="6598386" y="2402579"/>
            <a:ext cx="4023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9"/>
          <p:cNvSpPr/>
          <p:nvPr/>
        </p:nvSpPr>
        <p:spPr>
          <a:xfrm>
            <a:off x="6854659" y="2770745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5803D"/>
                </a:solidFill>
              </a:rPr>
              <a:t>81.03%</a:t>
            </a:r>
            <a:endParaRPr lang="en-US" sz="2650" dirty="0"/>
          </a:p>
        </p:txBody>
      </p:sp>
      <p:sp>
        <p:nvSpPr>
          <p:cNvPr id="31" name="Text 10"/>
          <p:cNvSpPr/>
          <p:nvPr/>
        </p:nvSpPr>
        <p:spPr>
          <a:xfrm>
            <a:off x="6854659" y="3237089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ResearchParticipation test accuracy</a:t>
            </a:r>
            <a:endParaRPr lang="en-US" sz="990" dirty="0"/>
          </a:p>
        </p:txBody>
      </p:sp>
      <p:sp>
        <p:nvSpPr>
          <p:cNvPr id="32" name="Text 11"/>
          <p:cNvSpPr/>
          <p:nvPr/>
        </p:nvSpPr>
        <p:spPr>
          <a:xfrm>
            <a:off x="9323539" y="2770745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7C3AED"/>
                </a:solidFill>
              </a:rPr>
              <a:t>0.699</a:t>
            </a:r>
            <a:endParaRPr lang="en-US" sz="2650" dirty="0"/>
          </a:p>
        </p:txBody>
      </p:sp>
      <p:sp>
        <p:nvSpPr>
          <p:cNvPr id="33" name="Text 12"/>
          <p:cNvSpPr/>
          <p:nvPr/>
        </p:nvSpPr>
        <p:spPr>
          <a:xfrm>
            <a:off x="9323539" y="3237089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Participated-class F1</a:t>
            </a:r>
            <a:endParaRPr lang="en-US" sz="9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paper and positioning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Delahoz‑Dominguez, Zuluaga &amp; Fontalvo‑Herrera, Data in Brief, 2020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5447" y="859780"/>
            <a:ext cx="4892040" cy="2960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</a:rPr>
              <a:t>The reference article presents a Colombian engineering-student dataset built by linking secondary-school and end-of-university assessment records. It motivates educational data mining using academic and social variables, but it is a data article rather than a classifier benchmark.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491" y="398365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2355B"/>
                </a:solidFill>
              </a:rPr>
              <a:t>12,411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207491" y="445000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reference-paper observations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3301467" y="398365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0F766E"/>
                </a:solidFill>
              </a:rPr>
              <a:t>44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3301467" y="445000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reference-paper variables</a:t>
            </a:r>
            <a:endParaRPr lang="en-US" sz="990" dirty="0"/>
          </a:p>
        </p:txBody>
      </p:sp>
      <p:sp>
        <p:nvSpPr>
          <p:cNvPr id="10" name="Text 8"/>
          <p:cNvSpPr/>
          <p:nvPr/>
        </p:nvSpPr>
        <p:spPr>
          <a:xfrm>
            <a:off x="1207491" y="544669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2563EB"/>
                </a:solidFill>
              </a:rPr>
              <a:t>3,516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207491" y="591304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raw observations in this project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3301467" y="544669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7C3AED"/>
                </a:solidFill>
              </a:rPr>
              <a:t>32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3301467" y="591304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raw variables before cleaning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5989320" y="1417320"/>
            <a:ext cx="123444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Dimension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1417320"/>
            <a:ext cx="196596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Reference paper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89720" y="1417320"/>
            <a:ext cx="205740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project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1746504"/>
            <a:ext cx="1234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Primary 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1746504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Dataset article and release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9720" y="1746504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Predictive modeling workflow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276856"/>
            <a:ext cx="12344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Data scope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2276856"/>
            <a:ext cx="1965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Colombian engineering assessments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9720" y="2276856"/>
            <a:ext cx="20574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Bangladesh engineering assessments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2807208"/>
            <a:ext cx="1234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Model benchmark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80720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No equivalent classifier benchmark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9720" y="2807208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WEKA + Python benchmarks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337560"/>
            <a:ext cx="12344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tasks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337560"/>
            <a:ext cx="1965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Not the article focus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337560"/>
            <a:ext cx="20574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CGPA + ResearchParticipation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03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 and contribution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Two predictive tasks plus one methodological feature-selection question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11430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353312"/>
            <a:ext cx="24231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Operational task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51960" y="1353312"/>
            <a:ext cx="33832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Information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82496"/>
            <a:ext cx="1143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682496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Predict CGPA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1682496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Use pre-/entry-level information; remove later university outcomes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11430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395728"/>
            <a:ext cx="24231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Predict ResearchParticipation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2395728"/>
            <a:ext cx="33832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Use cleaned contextual predictors plus Year1CGPA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108960"/>
            <a:ext cx="1143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Method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Do compact feature subsets preserve performance?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3108960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Test with leakage-controlled feature selection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1371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PROJECT CONTRIBUTION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75320" y="17190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Broad multi-family WEKA benchmark instead of one-model reporting.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8275320" y="23317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Controlled RandomForest tuning and final model freezing.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275320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Feature analysis through RF importance, Information Gain, and CFS.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8275320" y="35570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Held-out evaluation with archived artifacts and documentation.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8275320" y="41696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Second independent target: ResearchParticipation, with 28 substantive models completed.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04671" y="5193791"/>
            <a:ext cx="7003823" cy="82198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2355B"/>
                </a:solidFill>
              </a:rPr>
              <a:t>Core methodological theme: predictive performance must be reported together with leakage control, model-selection discipline, and responsible interpretation.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04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after collection and task-specific cleaning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same raw project dataset supports two different modeling tables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642" y="2317040"/>
            <a:ext cx="20116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37322" y="2317040"/>
            <a:ext cx="91440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51722" y="2317040"/>
            <a:ext cx="20116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Columns / attributes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63402" y="2317040"/>
            <a:ext cx="17830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Purpose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5642" y="2646224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Raw project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37322" y="2646224"/>
            <a:ext cx="914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3,516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51722" y="2646224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63402" y="2646224"/>
            <a:ext cx="1783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Starting point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5642" y="3268016"/>
            <a:ext cx="201168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Year‑1 final 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7322" y="3268016"/>
            <a:ext cx="9144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3,516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51722" y="3268016"/>
            <a:ext cx="201168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29 = 28 predictors + 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63402" y="3268016"/>
            <a:ext cx="178308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Five-class CGPA prediction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642" y="3889808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ResearchParticipation 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37322" y="3889808"/>
            <a:ext cx="914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3,475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51722" y="3889808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29 = 28 predictors +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63402" y="3889808"/>
            <a:ext cx="1783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Binary participation prediction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09560" y="1737359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A580C"/>
                </a:solidFill>
              </a:rPr>
              <a:t>CGPA FIELD REMOVAL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909560" y="1719072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</a:rPr>
              <a:t>For the task, later or inappropriate variables were removed: Timestamp, Year2CGPA, and ResearchParticipation.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7909560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SHARED PREDICTOR CORE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09560" y="3703320"/>
            <a:ext cx="3429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0F172A"/>
                </a:solidFill>
              </a:rPr>
              <a:t>The final predictor set includes faculty/institution, HSC year, gender, college category/location, HSC marks, family and household features, resource access, preferences, and parental education/employment.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05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governance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Benchmark widely, tune narrowly, freeze before final Test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1633728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16337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Define outcome + horizon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7816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484120" y="1353312"/>
            <a:ext cx="1633728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84120" y="1764792"/>
            <a:ext cx="16337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Prepare modeling 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36136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282440" y="1353312"/>
            <a:ext cx="163372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Benchmark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82440" y="1764792"/>
            <a:ext cx="16337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Many families in WEKA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34456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080760" y="1353312"/>
            <a:ext cx="163372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Tune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764792"/>
            <a:ext cx="16337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Restricted RF tuning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32776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879080" y="1353312"/>
            <a:ext cx="1633728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79080" y="1764792"/>
            <a:ext cx="16337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Lock config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31096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677400" y="1353312"/>
            <a:ext cx="163372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Test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9677400" y="1764792"/>
            <a:ext cx="16337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Final held-out evaluation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3127248"/>
            <a:ext cx="14173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86000" y="3127248"/>
            <a:ext cx="46177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status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127248"/>
            <a:ext cx="40690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456432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CGPA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456432"/>
            <a:ext cx="4617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Final Python pipeline kept Test out of coded tuning, but earlier WEKA exploration used the full dataset before split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345643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Report as held-out test of final coded pipeline; acknowledge historical caveat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206240"/>
            <a:ext cx="14173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ResearchParticipation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4206240"/>
            <a:ext cx="46177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Fixed split created before model sweep; 522-row Test was not used during selection/tuning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4206240"/>
            <a:ext cx="406908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Stronger prospective Test governance; model frozen before final Test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5285232"/>
            <a:ext cx="9966960" cy="649225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Metrics used together: Accuracy, Precision, Recall, F1, and confusion matrices.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06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target: Year‑1 CGPA category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Five-class nominal classification with 3,516 observations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&lt;3.00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84832" y="1517904"/>
            <a:ext cx="1611804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05272" y="1435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463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3.00–3.25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2048256"/>
            <a:ext cx="2280198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655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3.25–3.50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578608"/>
            <a:ext cx="342900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5272" y="24963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985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054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3.50–3.75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84832" y="3108960"/>
            <a:ext cx="2854599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30266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820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&gt;3.75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3639312"/>
            <a:ext cx="2064362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5272" y="35570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593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79" y="1481327"/>
            <a:ext cx="4190599" cy="722375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EA580C"/>
                </a:solidFill>
              </a:rPr>
              <a:t>The target is ordered in meaning, but treated as nominal by WEKA and scikit‑learn classifiers.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903720" y="2578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2563EB"/>
                </a:solidFill>
              </a:rPr>
              <a:t>28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6903720" y="30449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predictors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8549640" y="25786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7C3AED"/>
                </a:solidFill>
              </a:rPr>
              <a:t>5</a:t>
            </a:r>
            <a:endParaRPr lang="en-US" sz="2650" dirty="0"/>
          </a:p>
        </p:txBody>
      </p:sp>
      <p:sp>
        <p:nvSpPr>
          <p:cNvPr id="24" name="Text 22"/>
          <p:cNvSpPr/>
          <p:nvPr/>
        </p:nvSpPr>
        <p:spPr>
          <a:xfrm>
            <a:off x="8549640" y="30449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CGPA bands</a:t>
            </a:r>
            <a:endParaRPr lang="en-US" sz="990" dirty="0"/>
          </a:p>
        </p:txBody>
      </p:sp>
      <p:sp>
        <p:nvSpPr>
          <p:cNvPr id="25" name="Text 23"/>
          <p:cNvSpPr/>
          <p:nvPr/>
        </p:nvSpPr>
        <p:spPr>
          <a:xfrm>
            <a:off x="9921240" y="257860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5803D"/>
                </a:solidFill>
              </a:rPr>
              <a:t>3,516</a:t>
            </a:r>
            <a:endParaRPr lang="en-US" sz="2650" dirty="0"/>
          </a:p>
        </p:txBody>
      </p:sp>
      <p:sp>
        <p:nvSpPr>
          <p:cNvPr id="26" name="Text 24"/>
          <p:cNvSpPr/>
          <p:nvPr/>
        </p:nvSpPr>
        <p:spPr>
          <a:xfrm>
            <a:off x="9921240" y="304495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students/records</a:t>
            </a:r>
            <a:endParaRPr lang="en-US" sz="990" dirty="0"/>
          </a:p>
        </p:txBody>
      </p:sp>
      <p:sp>
        <p:nvSpPr>
          <p:cNvPr id="27" name="Text 25"/>
          <p:cNvSpPr/>
          <p:nvPr/>
        </p:nvSpPr>
        <p:spPr>
          <a:xfrm>
            <a:off x="6903720" y="404164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Practical meaning: this is harder than binary classification because the model must separate five close performance ranges. Neighboring-band mistakes are expected and should be inspected, not hidden.</a:t>
            </a:r>
            <a:endParaRPr lang="en-US" sz="1540" dirty="0"/>
          </a:p>
        </p:txBody>
      </p:sp>
      <p:sp>
        <p:nvSpPr>
          <p:cNvPr id="28" name="Text 26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07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broad WEKA benchmark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RandomForest led the 10-fold cross-validation model sweep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1673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RandomForest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423160" y="1371600"/>
            <a:ext cx="3336317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2893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60.32%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658368" y="17465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RandomCommittee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423160" y="1801368"/>
            <a:ext cx="3221490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719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58.25%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LMT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423160" y="2231136"/>
            <a:ext cx="321519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148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58.13%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658368" y="2606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KStar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423160" y="2660904"/>
            <a:ext cx="3210479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578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58.05%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658368" y="3035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IBk (K=1)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423160" y="3090672"/>
            <a:ext cx="3168009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0083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57.28%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58368" y="346557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MLP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423160" y="3520440"/>
            <a:ext cx="3097222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4381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56.00%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658368" y="3895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RandomTree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423160" y="3950208"/>
            <a:ext cx="3072058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8679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55.55%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58368" y="4325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J48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423160" y="4379976"/>
            <a:ext cx="2911614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4297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52.65%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995160" y="1298448"/>
            <a:ext cx="14173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1298448"/>
            <a:ext cx="9601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72600" y="1298448"/>
            <a:ext cx="6400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W-F1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12680" y="1298448"/>
            <a:ext cx="6400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52760" y="1298448"/>
            <a:ext cx="658368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1627632"/>
            <a:ext cx="14173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RandomForest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1627632"/>
            <a:ext cx="960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60.3242%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72600" y="1627632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0.604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12680" y="1627632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0.863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652760" y="1627632"/>
            <a:ext cx="6583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0.724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2020824"/>
            <a:ext cx="14173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RandomCommittee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2020824"/>
            <a:ext cx="9601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58.2480%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72600" y="2020824"/>
            <a:ext cx="6400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0.583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012680" y="2020824"/>
            <a:ext cx="6400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0.848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52760" y="2020824"/>
            <a:ext cx="658368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0.704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95160" y="2414016"/>
            <a:ext cx="14173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LMT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12480" y="2414016"/>
            <a:ext cx="960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58.1342%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372600" y="2414016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0.581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12680" y="2414016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0.781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652760" y="2414016"/>
            <a:ext cx="6583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0.544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95160" y="2807208"/>
            <a:ext cx="14173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KStar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2480" y="2807208"/>
            <a:ext cx="9601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58.0489%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372600" y="2807208"/>
            <a:ext cx="6400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0.579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12680" y="2807208"/>
            <a:ext cx="6400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0.851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652760" y="2807208"/>
            <a:ext cx="658368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0.702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95160" y="3200400"/>
            <a:ext cx="14173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IBk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12480" y="3200400"/>
            <a:ext cx="960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57.2810%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372600" y="3200400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0.572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012680" y="3200400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0.740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652760" y="3200400"/>
            <a:ext cx="6583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0.479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077456" y="4183380"/>
            <a:ext cx="4233672" cy="7955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5803D"/>
                </a:solidFill>
              </a:rPr>
              <a:t>Result: the main gain came from choosing a nonlinear ensemble family, not from excessive hyperparameter searching.</a:t>
            </a:r>
            <a:endParaRPr lang="en-US" sz="1420" dirty="0"/>
          </a:p>
        </p:txBody>
      </p:sp>
      <p:sp>
        <p:nvSpPr>
          <p:cNvPr id="60" name="Text 58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08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tuning and feature analysis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Tuning helped modestly; feature analysis revealed direct and contextual signals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914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353312"/>
            <a:ext cx="1920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353312"/>
            <a:ext cx="9601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353312"/>
            <a:ext cx="777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W-F1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353312"/>
            <a:ext cx="9601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Kappa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82496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Baseline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682496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100 trees, K=0, M=1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682496"/>
            <a:ext cx="960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60.3242%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682496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682496"/>
            <a:ext cx="960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0.4855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139696"/>
            <a:ext cx="9144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RF‑T01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139696"/>
            <a:ext cx="1920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250 trees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139696"/>
            <a:ext cx="9601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60.7509%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2139696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139696"/>
            <a:ext cx="9601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0.4901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596896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RF‑T02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2596896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K=2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596896"/>
            <a:ext cx="960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60.6086%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2596896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596896"/>
            <a:ext cx="960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0.4865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054096"/>
            <a:ext cx="9144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RF‑T03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3054096"/>
            <a:ext cx="1920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M=3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3054096"/>
            <a:ext cx="9601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60.9499%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3054096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054096"/>
            <a:ext cx="9601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0.4928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13441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HSCMath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65592" y="1399032"/>
            <a:ext cx="215594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97312" y="13167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0.0818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583680" y="17465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CurrentInstitution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65592" y="1801368"/>
            <a:ext cx="2083988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97312" y="1719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0.0791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6583680" y="2148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HSCPhysics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65592" y="2203704"/>
            <a:ext cx="173687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97312" y="21214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0.0659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6583680" y="2551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HSCChemistry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65592" y="2606040"/>
            <a:ext cx="1621699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97312" y="25237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0.0615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6583680" y="29535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MotherEducation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65592" y="3008376"/>
            <a:ext cx="744037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97312" y="29260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0.0282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65836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CollegeCategory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65592" y="3410712"/>
            <a:ext cx="580628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97312" y="33284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0.0220</a:t>
            </a:r>
            <a:endParaRPr lang="en-US" sz="810" dirty="0"/>
          </a:p>
        </p:txBody>
      </p:sp>
      <p:sp>
        <p:nvSpPr>
          <p:cNvPr id="48" name="Text 46"/>
          <p:cNvSpPr/>
          <p:nvPr/>
        </p:nvSpPr>
        <p:spPr>
          <a:xfrm>
            <a:off x="65836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FatherEducation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65592" y="3813048"/>
            <a:ext cx="556380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97312" y="37307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0.0211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6583680" y="4160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Faculty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165592" y="4215384"/>
            <a:ext cx="554272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97312" y="41330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b="1" dirty="0">
                <a:solidFill>
                  <a:srgbClr val="0F172A"/>
                </a:solidFill>
              </a:rPr>
              <a:t>0.0210</a:t>
            </a:r>
            <a:endParaRPr lang="en-US" sz="810" dirty="0"/>
          </a:p>
        </p:txBody>
      </p:sp>
      <p:sp>
        <p:nvSpPr>
          <p:cNvPr id="54" name="Text 52"/>
          <p:cNvSpPr/>
          <p:nvPr/>
        </p:nvSpPr>
        <p:spPr>
          <a:xfrm>
            <a:off x="749808" y="3913632"/>
            <a:ext cx="523036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CFS + BestFirst selected exactly: CurrentInstitution, HSCMath, HSCPhysics, HSCChemistry.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583679" y="4800599"/>
            <a:ext cx="4713973" cy="777239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EA580C"/>
                </a:solidFill>
              </a:rPr>
              <a:t>RandomForest importance also elevated parental education, attendance, preferences, employment-sector and learning-source variables.</a:t>
            </a:r>
            <a:endParaRPr lang="en-US" sz="1280" dirty="0"/>
          </a:p>
        </p:txBody>
      </p:sp>
      <p:sp>
        <p:nvSpPr>
          <p:cNvPr id="56" name="Text 54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09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key experiment: feature selection failed as a reduced model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attractive four-feature subset did not preserve performance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4173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15544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tuned RF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16002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CFS + tuned RF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417320"/>
            <a:ext cx="15544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46504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1746504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60.9499%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03320" y="1746504"/>
            <a:ext cx="1600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36.6894%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746504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−24.2605 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276856"/>
            <a:ext cx="14173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Weighted F1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276856"/>
            <a:ext cx="1554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0.609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276856"/>
            <a:ext cx="16002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0.351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276856"/>
            <a:ext cx="1554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−0.258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07208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Kappa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2807208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0.4928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2807208"/>
            <a:ext cx="1600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0.1739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807208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−0.3189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14173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ROC-AUC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337560"/>
            <a:ext cx="1554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0.860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03320" y="3337560"/>
            <a:ext cx="16002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0.660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337560"/>
            <a:ext cx="1554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−0.200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867912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PRC-AUC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48840" y="3867912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0.723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03320" y="3867912"/>
            <a:ext cx="1600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0.337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867912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−0.386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1444753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Finding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19385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The four strongest direct features were not enough. Removing weaker contextual variables removed interaction signal that RandomForest could use.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98080" y="3401568"/>
            <a:ext cx="3566160" cy="31089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interpretation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25512" y="3886200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Feature selection is a hypothesis to test, not a conclusion to trust automatically. This lesson directly informs the ResearchParticipation phase.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10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final Python model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Locked RandomForest evaluated on held-out Test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14173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Parameter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75688" y="1298448"/>
            <a:ext cx="297180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Locked 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27632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75688" y="1627632"/>
            <a:ext cx="2971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scikit‑learn RandomForestClassifier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1417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n_estimators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75688" y="2029968"/>
            <a:ext cx="2971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432304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max_features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75688" y="2432304"/>
            <a:ext cx="2971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sqrt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834640"/>
            <a:ext cx="1417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min_samples_leaf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2834640"/>
            <a:ext cx="2971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236976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random_state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75688" y="3236976"/>
            <a:ext cx="2971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639312"/>
            <a:ext cx="1417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fit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75688" y="3639312"/>
            <a:ext cx="2971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Train + Validation = 2,988 rows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041648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75688" y="4041648"/>
            <a:ext cx="2971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528 rows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23560" y="2536386"/>
            <a:ext cx="701040" cy="139553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225490"/>
            <a:ext cx="79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59.85%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7840" y="4005072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Accuracy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598920" y="2485787"/>
            <a:ext cx="701040" cy="144613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3200" y="2174891"/>
            <a:ext cx="79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62.02%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53200" y="4005072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Weighted Precision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574280" y="2536619"/>
            <a:ext cx="701040" cy="1395301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8560" y="2225723"/>
            <a:ext cx="79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0.598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28560" y="4005072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Weighted F1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549640" y="2525193"/>
            <a:ext cx="701040" cy="140672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2214297"/>
            <a:ext cx="79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0.603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03920" y="4005072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Macro F1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525000" y="1921977"/>
            <a:ext cx="701040" cy="200994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9280" y="1611081"/>
            <a:ext cx="79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0.862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479280" y="4005072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ROC-AUC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10500360" y="2264740"/>
            <a:ext cx="701040" cy="16671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54640" y="1953844"/>
            <a:ext cx="79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0.715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454640" y="4005072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PRC-AUC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669279" y="4663439"/>
            <a:ext cx="5459931" cy="821511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2355B"/>
                </a:solidFill>
              </a:rPr>
              <a:t>Final sentence: 59.85% accuracy, 0.598 weighted F1, 0.481 Cohen’s Kappa, ~0.862 weighted ROC-AUC, and ~0.715 weighted PRC-AUC.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11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confusion matrix and 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Most errors occur between neighboring CGPA bands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25880"/>
            <a:ext cx="1287475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Actual / Predicted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17827" y="1325880"/>
            <a:ext cx="100584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3.00–3.25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23667" y="1325880"/>
            <a:ext cx="100584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3.25–3.50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29507" y="1325880"/>
            <a:ext cx="100584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3.50–3.75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35347" y="1325880"/>
            <a:ext cx="100584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&gt;3.75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1187" y="1325880"/>
            <a:ext cx="100584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&lt;3.00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828800"/>
            <a:ext cx="1287475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3.00–3.25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17827" y="1828800"/>
            <a:ext cx="1005840" cy="502920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40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23667" y="1828800"/>
            <a:ext cx="1005840" cy="502920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41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29507" y="182880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35347" y="182880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41187" y="182880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" y="2331720"/>
            <a:ext cx="1287475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3.25–3.50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7827" y="2331720"/>
            <a:ext cx="1005840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19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23667" y="2331720"/>
            <a:ext cx="100584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101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29507" y="2331720"/>
            <a:ext cx="1005840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21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35347" y="233172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41187" y="233172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1287475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3.50–3.75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17827" y="283464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8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23667" y="2834640"/>
            <a:ext cx="1005840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31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29507" y="2834640"/>
            <a:ext cx="100584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35347" y="283464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41187" y="283464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" y="3337560"/>
            <a:ext cx="1287475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&gt;3.75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17827" y="333756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23667" y="333756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29507" y="333756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14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35347" y="3337560"/>
            <a:ext cx="10058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841187" y="333756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" y="3840480"/>
            <a:ext cx="1287475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&lt;3.00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17827" y="384048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823667" y="384048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17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29507" y="384048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35347" y="3840480"/>
            <a:ext cx="1005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41187" y="3840480"/>
            <a:ext cx="1005840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35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406640" y="14630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RandomForest was the strongest model family in broad WEKA benchmarking.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7406640" y="20391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Hyperparameter tuning improved development accuracy only modestly.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7406640" y="26151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Aggressive four-feature reduction harmed performance severely.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7406640" y="31912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The final reproducible Python pipeline reached 59.85% Test accuracy.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406640" y="376732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Limitation: ordinal CGPA bands were modeled as nominal classes.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7452360" y="4983480"/>
            <a:ext cx="352044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803D"/>
                </a:solidFill>
              </a:rPr>
              <a:t>Strongest per-class Test F1: &gt;3.75 ≈ 0.738. Hardest band: 3.00–3.25 ≈ 0.457.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12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target: ResearchParticipation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Binary classification: Participated vs NotParticipated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996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NotParticipated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96312" y="1554480"/>
            <a:ext cx="269748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85232" y="147218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0F172A"/>
                </a:solidFill>
              </a:rPr>
              <a:t>2,239 (64.43%)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Participated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2267712"/>
            <a:ext cx="1489096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21854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0F172A"/>
                </a:solidFill>
              </a:rPr>
              <a:t>1,236 (35.57%)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492240" y="1335024"/>
            <a:ext cx="182880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stage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1335024"/>
            <a:ext cx="7315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1335024"/>
            <a:ext cx="22402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66420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Raw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1664208"/>
            <a:ext cx="731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3,516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1664208"/>
            <a:ext cx="2240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32 original columns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167128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Missing target removed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167128"/>
            <a:ext cx="7315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2167128"/>
            <a:ext cx="22402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Excluded before modeling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67004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Exact duplicates removed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2670048"/>
            <a:ext cx="731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0" y="2670048"/>
            <a:ext cx="2240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Duplicate rows removed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172968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binary dataset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172968"/>
            <a:ext cx="7315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3,475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52560" y="3172968"/>
            <a:ext cx="22402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24 predictors + binary target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005072"/>
            <a:ext cx="489204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</a:rPr>
              <a:t>Primary metric was frozen before selection: F1 for the minority/positive Participated class.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3434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Why this matters: a majority-class model can get 64.43% accuracy while detecting zero participants. Therefore accuracy alone is misleading.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13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split and model-selection rule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Prospective Test governance was stronger than Phase 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46304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1280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1417320"/>
            <a:ext cx="14173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NotParticipated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14173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Participated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4650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Train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746504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2,432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746504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1,567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46504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865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276856"/>
            <a:ext cx="14630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276856"/>
            <a:ext cx="12801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521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276856"/>
            <a:ext cx="14173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336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76856"/>
            <a:ext cx="14173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185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80720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Test - locked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2807208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522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807208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336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07208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186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337560"/>
            <a:ext cx="14630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3337560"/>
            <a:ext cx="12801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3,475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3337560"/>
            <a:ext cx="14173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2,239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337560"/>
            <a:ext cx="14173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1,236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536192"/>
            <a:ext cx="338328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Broad benchmark protocol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20574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Use Train split with stratified 10-fold CV for broad WEKA benchmarking.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903720" y="2697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Rank candidates by Participated-class F1, not raw accuracy.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903720" y="3337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Use Validation for screening and limited RandomForest tuning.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90372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• Evaluate the locked 522-row Test set only after the model is frozen.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6903720" y="4873752"/>
            <a:ext cx="3657600" cy="7040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C2626"/>
                </a:solidFill>
              </a:rPr>
              <a:t>Scientific rule: a high score is not a reason to keep suspicious predictors or retune against Test.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14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broad WEKA benchmark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28 substantive models completed; RandomForest default was the leader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167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RandomForest default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2881745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2893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0.650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658368" y="1737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LMT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468880" y="1792224"/>
            <a:ext cx="279307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7099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0.630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58368" y="2157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RandomCommittee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468880" y="2212848"/>
            <a:ext cx="2766476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1305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0.624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658368" y="25786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MLP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468880" y="2633472"/>
            <a:ext cx="2757609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5511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0.622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658368" y="2999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RandomTree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468880" y="3054096"/>
            <a:ext cx="2726575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971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0.615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58368" y="34198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KStar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468880" y="3474720"/>
            <a:ext cx="2660073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0.600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658368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IBk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468880" y="3895344"/>
            <a:ext cx="265120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8130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0.598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58368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Bagging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468880" y="4315968"/>
            <a:ext cx="2433967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2336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F172A"/>
                </a:solidFill>
              </a:rPr>
              <a:t>0.549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446520" y="1298448"/>
            <a:ext cx="14173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63840" y="1298448"/>
            <a:ext cx="77724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41080" y="1298448"/>
            <a:ext cx="5029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0" y="1298448"/>
            <a:ext cx="5029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46920" y="1298448"/>
            <a:ext cx="5029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49840" y="1298448"/>
            <a:ext cx="5029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52760" y="1298448"/>
            <a:ext cx="5029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1627632"/>
            <a:ext cx="14173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RandomForest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1627632"/>
            <a:ext cx="777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79.11%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41080" y="1627632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.805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0" y="1627632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.545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46920" y="1627632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.650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149840" y="1627632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.849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52760" y="1627632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.803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2020824"/>
            <a:ext cx="14173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LMT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2020824"/>
            <a:ext cx="7772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74.26%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41080" y="2020824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.644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0" y="2020824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.616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46920" y="2020824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.630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49840" y="2020824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.743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52760" y="2020824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.610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46520" y="2414016"/>
            <a:ext cx="14173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RandomCommittee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63840" y="2414016"/>
            <a:ext cx="777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76.27%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41080" y="2414016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.716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144000" y="2414016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.553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46920" y="2414016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.624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149840" y="2414016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.826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652760" y="2414016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.771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2807208"/>
            <a:ext cx="14173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MLP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863840" y="2807208"/>
            <a:ext cx="7772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74.05%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41080" y="2807208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.646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144000" y="2807208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.600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646920" y="2807208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.622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49840" y="2807208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.748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652760" y="2807208"/>
            <a:ext cx="5029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.637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46520" y="3200400"/>
            <a:ext cx="14173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</a:rPr>
              <a:t>RandomTree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863840" y="3200400"/>
            <a:ext cx="777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73.40%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641080" y="3200400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.634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144000" y="3200400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.597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646920" y="3200400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.615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149840" y="3200400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.726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652760" y="3200400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.556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583680" y="4315968"/>
            <a:ext cx="48006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C2626"/>
                </a:solidFill>
              </a:rPr>
              <a:t>Baseline context: ZeroR accuracy = 64.43%, but Participated recall = 0 and Participated F1 = 0.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583680" y="5074920"/>
            <a:ext cx="4800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15803D"/>
                </a:solidFill>
              </a:rPr>
              <a:t>The final model improved accuracy by 16.60 percentage points and reduced error rate by about 46.7% relative to ZeroR.</a:t>
            </a:r>
            <a:endParaRPr lang="en-US" sz="1330" dirty="0"/>
          </a:p>
        </p:txBody>
      </p:sp>
      <p:sp>
        <p:nvSpPr>
          <p:cNvPr id="73" name="Text 71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15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validation and RandomForest tuning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K=12 was selected before Test evaluation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3312"/>
            <a:ext cx="18745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2888" y="1353312"/>
            <a:ext cx="77724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0128" y="1353312"/>
            <a:ext cx="77724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Precision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87368" y="1353312"/>
            <a:ext cx="7315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18888" y="1353312"/>
            <a:ext cx="64008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58968" y="1353312"/>
            <a:ext cx="7315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90488" y="1353312"/>
            <a:ext cx="7315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1682496"/>
            <a:ext cx="1874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RF default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2888" y="1682496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81.19%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682496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.854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87368" y="1682496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.568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682496"/>
            <a:ext cx="640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.682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58968" y="1682496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.878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1682496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.840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176272"/>
            <a:ext cx="1874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RandomCommittee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32888" y="2176272"/>
            <a:ext cx="77724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80.04%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2176272"/>
            <a:ext cx="77724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.791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87368" y="2176272"/>
            <a:ext cx="731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.595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2176272"/>
            <a:ext cx="64008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.679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58968" y="2176272"/>
            <a:ext cx="731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.881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0488" y="2176272"/>
            <a:ext cx="731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.835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2670048"/>
            <a:ext cx="1874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K=10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32888" y="2670048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80.81%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2670048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.797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87368" y="2670048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.616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2670048"/>
            <a:ext cx="640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.695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58968" y="2670048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.858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0488" y="2670048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.819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3163824"/>
            <a:ext cx="1874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K=12 validation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32888" y="3163824"/>
            <a:ext cx="77724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81.96%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10128" y="3163824"/>
            <a:ext cx="77724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.818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87368" y="3163824"/>
            <a:ext cx="731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.632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18888" y="3163824"/>
            <a:ext cx="64008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.713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58968" y="3163824"/>
            <a:ext cx="731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.870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0488" y="3163824"/>
            <a:ext cx="73152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.823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13716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K=0 CV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8531352" y="1426464"/>
            <a:ext cx="1857375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80192" y="1344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0.650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315200" y="1755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K=8 CV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8531352" y="1810512"/>
            <a:ext cx="1908810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80192" y="17282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0.668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7315200" y="21396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K=10 CV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8531352" y="2194560"/>
            <a:ext cx="1891665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80192" y="21122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0.662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7315200" y="2523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K=12 CV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8531352" y="2578608"/>
            <a:ext cx="1917383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80192" y="24963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0.671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7315200" y="29077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K=16 CV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8531352" y="2962656"/>
            <a:ext cx="1897380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80192" y="28803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0.664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7315200" y="3291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K=10 Val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8531352" y="3346704"/>
            <a:ext cx="1985963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80192" y="32644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0.695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7315200" y="36758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K=12 Val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8531352" y="3730752"/>
            <a:ext cx="2037398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80192" y="36484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0.713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914400" y="4965192"/>
            <a:ext cx="6035040" cy="4114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Frozen final scheme: WEKA RandomForest, 100 trees, K=12, M=1.0, V=0.001, seed=1.</a:t>
            </a:r>
            <a:endParaRPr lang="en-US" sz="1380" dirty="0"/>
          </a:p>
        </p:txBody>
      </p:sp>
      <p:sp>
        <p:nvSpPr>
          <p:cNvPr id="62" name="Text 60"/>
          <p:cNvSpPr/>
          <p:nvPr/>
        </p:nvSpPr>
        <p:spPr>
          <a:xfrm>
            <a:off x="7360920" y="5010912"/>
            <a:ext cx="379476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</a:rPr>
              <a:t>No further tuning was allowed after the locked Test result.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16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final locked-Test evaluation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Strong internal generalization with transparent class-level limitations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246888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27248" y="1252728"/>
            <a:ext cx="17373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27248" y="158191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81.0345%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929384"/>
            <a:ext cx="2468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Participated Precision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27248" y="1929384"/>
            <a:ext cx="1737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276856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Participated 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27248" y="227685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0.618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624328"/>
            <a:ext cx="2468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Participated F1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7248" y="2624328"/>
            <a:ext cx="1737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0.699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971800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ROC-AUC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27248" y="297180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0.879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319272"/>
            <a:ext cx="2468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PRC-AUC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27248" y="3319272"/>
            <a:ext cx="1737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0.827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666744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Cohen’s Kappa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7248" y="366674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0.5641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014216"/>
            <a:ext cx="2468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MCC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27248" y="4014216"/>
            <a:ext cx="1737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0.574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4361688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Weighted F1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27248" y="436168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709160"/>
            <a:ext cx="2468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Balanced Accuracy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27248" y="4709160"/>
            <a:ext cx="1737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0.7675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1417320"/>
            <a:ext cx="1310884" cy="658368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Actual / Predicted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568684" y="1417320"/>
            <a:ext cx="1024128" cy="658368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</a:rPr>
              <a:t>NotParticipated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592812" y="1417320"/>
            <a:ext cx="1024128" cy="658368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</a:rPr>
              <a:t>Participated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5257800" y="2075688"/>
            <a:ext cx="1310884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172A"/>
                </a:solidFill>
              </a:rPr>
              <a:t>NotParticipated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6568684" y="2075688"/>
            <a:ext cx="1024128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92812" y="2075688"/>
            <a:ext cx="102412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28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57800" y="2734056"/>
            <a:ext cx="1310884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F172A"/>
                </a:solidFill>
              </a:rPr>
              <a:t>Participated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6568684" y="2734056"/>
            <a:ext cx="1024128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71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92812" y="2734056"/>
            <a:ext cx="1024128" cy="65836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115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79408" y="14447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5803D"/>
                </a:solidFill>
              </a:rPr>
              <a:t>115/186</a:t>
            </a:r>
            <a:endParaRPr lang="en-US" sz="2650" dirty="0"/>
          </a:p>
        </p:txBody>
      </p:sp>
      <p:sp>
        <p:nvSpPr>
          <p:cNvPr id="37" name="Text 35"/>
          <p:cNvSpPr/>
          <p:nvPr/>
        </p:nvSpPr>
        <p:spPr>
          <a:xfrm>
            <a:off x="8979408" y="191109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actual participants identified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8979408" y="276148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2563EB"/>
                </a:solidFill>
              </a:rPr>
              <a:t>308/336</a:t>
            </a:r>
            <a:endParaRPr lang="en-US" sz="2650" dirty="0"/>
          </a:p>
        </p:txBody>
      </p:sp>
      <p:sp>
        <p:nvSpPr>
          <p:cNvPr id="39" name="Text 37"/>
          <p:cNvSpPr/>
          <p:nvPr/>
        </p:nvSpPr>
        <p:spPr>
          <a:xfrm>
            <a:off x="8979408" y="322783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non-participants identified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8887968" y="4462271"/>
            <a:ext cx="2716490" cy="1385075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EA580C"/>
                </a:solidFill>
              </a:rPr>
              <a:t>Participant recall = 61.83%; specificity = 91.67%. The model is better at rejecting non-participants than finding every participant.</a:t>
            </a:r>
            <a:endParaRPr lang="en-US" sz="1340" dirty="0"/>
          </a:p>
        </p:txBody>
      </p:sp>
      <p:sp>
        <p:nvSpPr>
          <p:cNvPr id="41" name="Text 39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17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generalization stability and features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Validation-to-Test gap was small; importance is predictive, not causal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12344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92808" y="1325880"/>
            <a:ext cx="13258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K=12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18688" y="1325880"/>
            <a:ext cx="11430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61688" y="1325880"/>
            <a:ext cx="14173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655064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92808" y="1655064"/>
            <a:ext cx="13258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81.9578%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1655064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81.0345%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61688" y="1655064"/>
            <a:ext cx="1417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−0.9233 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029968"/>
            <a:ext cx="12344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92808" y="2029968"/>
            <a:ext cx="13258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0.818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18688" y="2029968"/>
            <a:ext cx="114300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61688" y="2029968"/>
            <a:ext cx="14173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−0.014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404872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Recall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92808" y="2404872"/>
            <a:ext cx="13258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0.632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18688" y="2404872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61688" y="2404872"/>
            <a:ext cx="1417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−0.014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2779776"/>
            <a:ext cx="12344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92808" y="2779776"/>
            <a:ext cx="13258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0.713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8688" y="2779776"/>
            <a:ext cx="114300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0.699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61688" y="2779776"/>
            <a:ext cx="14173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−0.014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154680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ROC-AUC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92808" y="3154680"/>
            <a:ext cx="13258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0.870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18688" y="3154680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61688" y="3154680"/>
            <a:ext cx="1417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+0.009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3529584"/>
            <a:ext cx="12344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PRC-AUC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92808" y="3529584"/>
            <a:ext cx="13258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0.823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18688" y="3529584"/>
            <a:ext cx="114300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61688" y="3529584"/>
            <a:ext cx="14173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+0.004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3904488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MCC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92808" y="3904488"/>
            <a:ext cx="13258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0.595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18688" y="3904488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0.574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61688" y="3904488"/>
            <a:ext cx="1417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−0.021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13167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HSCGraduationYear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8119872" y="1371600"/>
            <a:ext cx="2275534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43032" y="12893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0.81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309360" y="1673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Gender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8119872" y="1728216"/>
            <a:ext cx="2247441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43032" y="1645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0.80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309360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Faculty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8119872" y="2084832"/>
            <a:ext cx="2135069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43032" y="20025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0.76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309360" y="23865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CollegeLocation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8119872" y="2441448"/>
            <a:ext cx="1966511" cy="1280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43032" y="23591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0.70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309360" y="2743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CollegeCategory</a:t>
            </a:r>
            <a:endParaRPr lang="en-US" sz="790" dirty="0"/>
          </a:p>
        </p:txBody>
      </p:sp>
      <p:sp>
        <p:nvSpPr>
          <p:cNvPr id="50" name="Shape 48"/>
          <p:cNvSpPr/>
          <p:nvPr/>
        </p:nvSpPr>
        <p:spPr>
          <a:xfrm>
            <a:off x="8119872" y="2798064"/>
            <a:ext cx="1938418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43032" y="27157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0.69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309360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HSCMath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8119872" y="3154680"/>
            <a:ext cx="1938418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43032" y="307238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0.69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309360" y="3456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HSCLearningSource</a:t>
            </a:r>
            <a:endParaRPr lang="en-US" sz="790" dirty="0"/>
          </a:p>
        </p:txBody>
      </p:sp>
      <p:sp>
        <p:nvSpPr>
          <p:cNvPr id="56" name="Shape 54"/>
          <p:cNvSpPr/>
          <p:nvPr/>
        </p:nvSpPr>
        <p:spPr>
          <a:xfrm>
            <a:off x="8119872" y="3511296"/>
            <a:ext cx="1882232" cy="1280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43032" y="3429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0.67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309360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CollegeAttendance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8119872" y="3867912"/>
            <a:ext cx="182604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43032" y="37856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0.65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6309360" y="4169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HSCPhysics</a:t>
            </a:r>
            <a:endParaRPr lang="en-US" sz="790" dirty="0"/>
          </a:p>
        </p:txBody>
      </p:sp>
      <p:sp>
        <p:nvSpPr>
          <p:cNvPr id="62" name="Shape 60"/>
          <p:cNvSpPr/>
          <p:nvPr/>
        </p:nvSpPr>
        <p:spPr>
          <a:xfrm>
            <a:off x="8119872" y="4224528"/>
            <a:ext cx="1797953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43032" y="41422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0.64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6309360" y="4526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334155"/>
                </a:solidFill>
              </a:rPr>
              <a:t>ComputerAvailability</a:t>
            </a:r>
            <a:endParaRPr lang="en-US" sz="790" dirty="0"/>
          </a:p>
        </p:txBody>
      </p:sp>
      <p:sp>
        <p:nvSpPr>
          <p:cNvPr id="65" name="Shape 63"/>
          <p:cNvSpPr/>
          <p:nvPr/>
        </p:nvSpPr>
        <p:spPr>
          <a:xfrm>
            <a:off x="8119872" y="4581144"/>
            <a:ext cx="1797953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43032" y="44988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F172A"/>
                </a:solidFill>
              </a:rPr>
              <a:t>0.64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932688" y="5010912"/>
            <a:ext cx="99669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10" b="1" dirty="0">
                <a:solidFill>
                  <a:srgbClr val="DC2626"/>
                </a:solidFill>
              </a:rPr>
              <a:t>Interpretation rule: these are model-specific predictive importance values, not causal effects. Impurity importance can favor variables with many split opportunities.</a:t>
            </a:r>
            <a:endParaRPr lang="en-US" sz="1310" dirty="0"/>
          </a:p>
        </p:txBody>
      </p:sp>
      <p:sp>
        <p:nvSpPr>
          <p:cNvPr id="68" name="Text 66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18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Cross-phase quantitative synthesis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two tasks are related but not directly comparable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61788" y="4965192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61872"/>
            <a:ext cx="169164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Dimension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261872"/>
            <a:ext cx="278892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1: Year‑1 CGPA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6360" y="1261872"/>
            <a:ext cx="283464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2: ResearchParticipation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91056"/>
            <a:ext cx="1691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Problem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591056"/>
            <a:ext cx="2788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5-class nominal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1591056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Binary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1691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usable 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1965960"/>
            <a:ext cx="2788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3,516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965960"/>
            <a:ext cx="2834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3,475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340864"/>
            <a:ext cx="1691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Predictors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340864"/>
            <a:ext cx="2788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340864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715768"/>
            <a:ext cx="1691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Test 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715768"/>
            <a:ext cx="2788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715768"/>
            <a:ext cx="2834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090672"/>
            <a:ext cx="1691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Final Accuracy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090672"/>
            <a:ext cx="2788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59.85%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3090672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81.03%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465576"/>
            <a:ext cx="1691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Main F1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3465576"/>
            <a:ext cx="2788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0.598 weighted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3465576"/>
            <a:ext cx="2834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0.699 Participated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840480"/>
            <a:ext cx="1691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ROC-AUC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3840480"/>
            <a:ext cx="2788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~0.862 weighted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840480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0.879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215384"/>
            <a:ext cx="1691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PRC-AUC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4215384"/>
            <a:ext cx="2788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~0.715 weighted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4215384"/>
            <a:ext cx="2834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0.827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590288"/>
            <a:ext cx="1691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Kappa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4590288"/>
            <a:ext cx="2788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0.4811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4590288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0.5641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965192"/>
            <a:ext cx="1691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Key lesson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77440" y="4965192"/>
            <a:ext cx="2788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Context beats 4-feature reduction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4965192"/>
            <a:ext cx="283464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K=12 improves minority-class balance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58200" y="1325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REPEATABLE FINDINGS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458200" y="16276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334155"/>
                </a:solidFill>
              </a:rPr>
              <a:t>• RandomForest was strongest in both tasks.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8458200" y="22311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334155"/>
                </a:solidFill>
              </a:rPr>
              <a:t>• Nonlinear ensembles beat simple baselines.</a:t>
            </a:r>
            <a:endParaRPr lang="en-US" sz="1210" dirty="0"/>
          </a:p>
        </p:txBody>
      </p:sp>
      <p:sp>
        <p:nvSpPr>
          <p:cNvPr id="41" name="Text 39"/>
          <p:cNvSpPr/>
          <p:nvPr/>
        </p:nvSpPr>
        <p:spPr>
          <a:xfrm>
            <a:off x="8458200" y="2834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334155"/>
                </a:solidFill>
              </a:rPr>
              <a:t>• Feature relevance was distributed across academic and context variables.</a:t>
            </a:r>
            <a:endParaRPr lang="en-US" sz="1210" dirty="0"/>
          </a:p>
        </p:txBody>
      </p:sp>
      <p:sp>
        <p:nvSpPr>
          <p:cNvPr id="42" name="Text 40"/>
          <p:cNvSpPr/>
          <p:nvPr/>
        </p:nvSpPr>
        <p:spPr>
          <a:xfrm>
            <a:off x="8458200" y="34381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334155"/>
                </a:solidFill>
              </a:rPr>
              <a:t>• Confusion matrices revealed limitations hidden by headline accuracy.</a:t>
            </a:r>
            <a:endParaRPr lang="en-US" sz="1210" dirty="0"/>
          </a:p>
        </p:txBody>
      </p:sp>
      <p:sp>
        <p:nvSpPr>
          <p:cNvPr id="43" name="Text 41"/>
          <p:cNvSpPr/>
          <p:nvPr/>
        </p:nvSpPr>
        <p:spPr>
          <a:xfrm>
            <a:off x="8275320" y="4617719"/>
            <a:ext cx="3429000" cy="914399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EA580C"/>
                </a:solidFill>
              </a:rPr>
              <a:t>Important: 0.598 weighted F1 and 0.699 Participated F1 are not directly comparable because the targets and averaging rules differ.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19</a:t>
            </a:r>
            <a:endParaRPr lang="en-US" sz="8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comparison with the reference paper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reference paper motivates; this project operationalizes prediction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465"/>
            <a:ext cx="1348740" cy="1920535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97569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12,411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502152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Reference paper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observations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446020" y="2884918"/>
            <a:ext cx="1348740" cy="54408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0300" y="2574022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3,516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00300" y="3502152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This project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raw observations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389120" y="1658722"/>
            <a:ext cx="1348740" cy="177027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347826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44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3502152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Reference paper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variables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012180" y="2141525"/>
            <a:ext cx="1348740" cy="128747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6460" y="1830629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32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66460" y="3502152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This project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raw variables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32004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</a:rPr>
              <a:t>Size ratio: the reference paper is about 3.53× larger by observations.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92440" y="1444752"/>
            <a:ext cx="315468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Safe positioning statement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19872" y="1975104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0F172A"/>
                </a:solidFill>
              </a:rPr>
              <a:t>The reference paper establishes the value of linked academic and social variables for educational data mining. This project contributes deeper predictive modeling: broad benchmarks, tuning, feature-analysis controls, fixed final evaluation, and reproducibility artifacts.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092440" y="4315968"/>
            <a:ext cx="3154680" cy="7132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</a:rPr>
              <a:t>Not a valid claim: “We outperformed the paper.” Valid claim: “We built a predictive-modeling extension in the same research direction.”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20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Reproducibility, code, and artifacts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project is organized as an auditable ML archive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1810512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data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1810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raw / processed / splits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660904" y="1353312"/>
            <a:ext cx="1810512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experiments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660904" y="1764792"/>
            <a:ext cx="1810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WEKA logs + screenshots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9704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36008" y="1353312"/>
            <a:ext cx="181051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models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636008" y="1764792"/>
            <a:ext cx="1810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validation + final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64808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611112" y="1353312"/>
            <a:ext cx="1810512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results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611112" y="1764792"/>
            <a:ext cx="1810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metrics + matrices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39912" y="2066544"/>
            <a:ext cx="109728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86216" y="1353312"/>
            <a:ext cx="181051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docs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586216" y="1764792"/>
            <a:ext cx="1810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history + model cards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063240"/>
            <a:ext cx="20116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Area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2926080" y="3063240"/>
            <a:ext cx="786384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Representative artifact / role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914400" y="339242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CGPA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3392424"/>
            <a:ext cx="7863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WEKA_MODEL_RESULTS.md/.csv; RF_TUNING_AND_FEATURE_SELECTION.md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813048"/>
            <a:ext cx="20116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CGPA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0" y="3813048"/>
            <a:ext cx="78638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final_random_forest_pipeline.joblib; final classification and confusion outputs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400" y="423367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ResearchParticipation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4233672"/>
            <a:ext cx="7863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Benchmark ledger; Final RandomForest K12 model; Test result log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400" y="4654296"/>
            <a:ext cx="20116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ResearchParticipation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26080" y="4654296"/>
            <a:ext cx="78638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Final classification report, confusion matrix, feature importance, methodology/results document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4400" y="507492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Main entry point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926080" y="5074920"/>
            <a:ext cx="7863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python main.py status is safe; explicit commands needed to reproduce or evaluate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650992"/>
            <a:ext cx="9738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55B"/>
                </a:solidFill>
              </a:rPr>
              <a:t>Repository rule: keep completed Year‑1 artifacts preserved; add ResearchParticipation outputs in target-specific subfolders.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21</a:t>
            </a:r>
            <a:endParaRPr lang="en-US" sz="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responsible interpretation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Strong internal results, but not causal or externally validated claims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</a:rPr>
              <a:t>• External validity is not yet established; Test sets are internal hold-outs from the same overall dataset.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</a:rPr>
              <a:t>• CGPA is ordinal in meaning but modeled as nominal classes.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</a:rPr>
              <a:t>• historical WEKA exploration occurred before the final fixed split.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</a:rPr>
              <a:t>• RandomForest impurity importance is predictive and can be biased; it is not causal evidence.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</a:rPr>
              <a:t>• ResearchParticipation still misses 38.2% of actual participants.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</a:rPr>
              <a:t>• Probability calibration, subgroup/fairness analysis, confidence intervals, and RP Python reproduction remain future work.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22</a:t>
            </a:r>
            <a:endParaRPr lang="en-US" sz="8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BAAB-4F7D-EFFD-27E0-1CD5AFA3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0891CF-6131-BDE0-938E-DA0BFC82790F}"/>
              </a:ext>
            </a:extLst>
          </p:cNvPr>
          <p:cNvSpPr/>
          <p:nvPr/>
        </p:nvSpPr>
        <p:spPr>
          <a:xfrm>
            <a:off x="1203960" y="1694046"/>
            <a:ext cx="9784080" cy="346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br>
              <a:rPr lang="en-US" sz="6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6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Any Questions?</a:t>
            </a:r>
            <a:endParaRPr lang="en-US" sz="6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522CD12-2959-644C-28BD-E9AD86B15882}"/>
              </a:ext>
            </a:extLst>
          </p:cNvPr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690A02-35C6-FC80-D7C1-0396E4D17A75}"/>
              </a:ext>
            </a:extLst>
          </p:cNvPr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2738462-C583-FBD7-C5B6-876E31BED284}"/>
              </a:ext>
            </a:extLst>
          </p:cNvPr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22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1969428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next phase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modeling phases are complete; the remaining work is robustness and reporting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2563EB"/>
                </a:solidFill>
              </a:rPr>
              <a:t>2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41248" y="18836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completed prediction tasks</a:t>
            </a:r>
            <a:endParaRPr lang="en-US" sz="99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5803D"/>
                </a:solidFill>
              </a:rPr>
              <a:t>28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3200400" y="18836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substantive RP benchmark models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5870448" y="1417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7C3AED"/>
                </a:solidFill>
              </a:rPr>
              <a:t>K=12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70448" y="18836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</a:rPr>
              <a:t>final RP RandomForest setting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822960" y="2907792"/>
            <a:ext cx="4023360" cy="34747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conclusion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3438144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0F172A"/>
                </a:solidFill>
              </a:rPr>
              <a:t>The project demonstrates that academic/context variables can support meaningful prediction of both early CGPA category and research participation, with RandomForest consistently strongest under the tested protocols.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5897880" y="2907792"/>
            <a:ext cx="393192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 roadmap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25312" y="34290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• ResearchParticipation Information Gain + CFS/BestFirst.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925312" y="3977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• Leakage-controlled RP feature-selection evaluation.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925312" y="45262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• RP‑A vs RP‑B timing comparison.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925312" y="5074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• Python reproduction, descriptive tables, and uncertainty analysis.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841248" y="5102352"/>
            <a:ext cx="3977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</a:rPr>
              <a:t>Do not tune more against the locked Test result.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23</a:t>
            </a:r>
            <a:endParaRPr lang="en-US" sz="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key metric definitions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Useful for viva or backup explanation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214884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Metric</a:t>
            </a:r>
            <a:endParaRPr lang="en-US" sz="910" dirty="0"/>
          </a:p>
        </p:txBody>
      </p:sp>
      <p:sp>
        <p:nvSpPr>
          <p:cNvPr id="6" name="Text 4"/>
          <p:cNvSpPr/>
          <p:nvPr/>
        </p:nvSpPr>
        <p:spPr>
          <a:xfrm>
            <a:off x="2807208" y="1261872"/>
            <a:ext cx="297180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Formula / definition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5779008" y="1261872"/>
            <a:ext cx="5669280" cy="329184"/>
          </a:xfrm>
          <a:prstGeom prst="rect">
            <a:avLst/>
          </a:prstGeom>
          <a:solidFill>
            <a:srgbClr val="12355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Use in this project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658368" y="1591056"/>
            <a:ext cx="21488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Accuracy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807208" y="1591056"/>
            <a:ext cx="2971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Correct / All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779008" y="1591056"/>
            <a:ext cx="56692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Overall correctness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58368" y="1947672"/>
            <a:ext cx="2148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Precision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807208" y="1947672"/>
            <a:ext cx="2971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TP / (TP + FP)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779008" y="1947672"/>
            <a:ext cx="566928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Reliability of positive/class predictions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58368" y="2304288"/>
            <a:ext cx="21488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Recall / Sensitivity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807208" y="2304288"/>
            <a:ext cx="2971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TP / (TP + FN)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779008" y="2304288"/>
            <a:ext cx="56692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Detection of actual positives/classes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58368" y="2660904"/>
            <a:ext cx="2148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F1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2807208" y="2660904"/>
            <a:ext cx="2971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2PR / (P + R)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779008" y="2660904"/>
            <a:ext cx="566928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Balances precision and recall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58368" y="3017520"/>
            <a:ext cx="21488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Specificity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2807208" y="3017520"/>
            <a:ext cx="2971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TN / (TN + FP)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779008" y="3017520"/>
            <a:ext cx="56692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Correct rejection of negatives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58368" y="3374136"/>
            <a:ext cx="2148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Balanced Accuracy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807208" y="3374136"/>
            <a:ext cx="2971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(Sensitivity + Specificity) / 2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779008" y="3374136"/>
            <a:ext cx="566928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Handles binary imbalance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58368" y="3730752"/>
            <a:ext cx="21488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Kappa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807208" y="3730752"/>
            <a:ext cx="2971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Chance-adjusted agreement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5779008" y="3730752"/>
            <a:ext cx="56692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Beyond-chance multiclass agreement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58368" y="4087368"/>
            <a:ext cx="2148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MCC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2807208" y="4087368"/>
            <a:ext cx="2971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Correlation-like binary score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779008" y="4087368"/>
            <a:ext cx="566928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Robust binary performance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58368" y="4443984"/>
            <a:ext cx="21488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ROC-AUC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2807208" y="4443984"/>
            <a:ext cx="2971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Area under TPR/FPR curve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779008" y="4443984"/>
            <a:ext cx="56692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Ranking quality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58368" y="4800600"/>
            <a:ext cx="2148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F172A"/>
                </a:solidFill>
              </a:rPr>
              <a:t>PRC-AUC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2807208" y="4800600"/>
            <a:ext cx="297180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Area under precision-recall curve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779008" y="4800600"/>
            <a:ext cx="566928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172A"/>
                </a:solidFill>
              </a:rPr>
              <a:t>Useful for minority class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25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benchmark ledgers summarized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Full ledgers are preserved in project artifacts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98448"/>
            <a:ext cx="1874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Year‑1 top / reference models</a:t>
            </a:r>
            <a:endParaRPr lang="en-US" sz="910" dirty="0"/>
          </a:p>
        </p:txBody>
      </p:sp>
      <p:sp>
        <p:nvSpPr>
          <p:cNvPr id="6" name="Text 4"/>
          <p:cNvSpPr/>
          <p:nvPr/>
        </p:nvSpPr>
        <p:spPr>
          <a:xfrm>
            <a:off x="2468880" y="1298448"/>
            <a:ext cx="8686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Accuracy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3337560" y="1298448"/>
            <a:ext cx="731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W-F1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4069080" y="1298448"/>
            <a:ext cx="731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ROC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4800600" y="1298448"/>
            <a:ext cx="777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PRC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594360" y="1627632"/>
            <a:ext cx="1874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RandomForest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868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60.3242%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337560" y="1627632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0.604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4069080" y="1627632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0.863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4800600" y="1627632"/>
            <a:ext cx="777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0.724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594360" y="2020824"/>
            <a:ext cx="18745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RandomCommittee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2468880" y="2020824"/>
            <a:ext cx="8686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58.2480%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337560" y="2020824"/>
            <a:ext cx="7315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0.583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4069080" y="2020824"/>
            <a:ext cx="7315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0.848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4800600" y="2020824"/>
            <a:ext cx="7772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0.704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594360" y="2414016"/>
            <a:ext cx="1874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LMT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2468880" y="2414016"/>
            <a:ext cx="868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58.1342%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337560" y="2414016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0.581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4069080" y="2414016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0.781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4800600" y="2414016"/>
            <a:ext cx="777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0.544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594360" y="2807208"/>
            <a:ext cx="18745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KStar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2468880" y="2807208"/>
            <a:ext cx="8686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58.0489%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337560" y="2807208"/>
            <a:ext cx="7315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0.579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4069080" y="2807208"/>
            <a:ext cx="73152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0.851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4800600" y="2807208"/>
            <a:ext cx="7772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0.702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594360" y="3200400"/>
            <a:ext cx="1874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ZeroR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2468880" y="3200400"/>
            <a:ext cx="868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28.0148%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3337560" y="3200400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—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4069080" y="3200400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0.498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4800600" y="3200400"/>
            <a:ext cx="777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0.213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6309360" y="1298448"/>
            <a:ext cx="205740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ResearchParticipation top / reference models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8366760" y="1298448"/>
            <a:ext cx="86868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Accuracy</a:t>
            </a:r>
            <a:endParaRPr lang="en-US" sz="910" dirty="0"/>
          </a:p>
        </p:txBody>
      </p:sp>
      <p:sp>
        <p:nvSpPr>
          <p:cNvPr id="37" name="Text 35"/>
          <p:cNvSpPr/>
          <p:nvPr/>
        </p:nvSpPr>
        <p:spPr>
          <a:xfrm>
            <a:off x="9235440" y="1298448"/>
            <a:ext cx="5943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P</a:t>
            </a:r>
            <a:endParaRPr lang="en-US" sz="910" dirty="0"/>
          </a:p>
        </p:txBody>
      </p:sp>
      <p:sp>
        <p:nvSpPr>
          <p:cNvPr id="38" name="Text 36"/>
          <p:cNvSpPr/>
          <p:nvPr/>
        </p:nvSpPr>
        <p:spPr>
          <a:xfrm>
            <a:off x="9829800" y="1298448"/>
            <a:ext cx="5943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R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10424160" y="1298448"/>
            <a:ext cx="5943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F1</a:t>
            </a:r>
            <a:endParaRPr lang="en-US" sz="910" dirty="0"/>
          </a:p>
        </p:txBody>
      </p:sp>
      <p:sp>
        <p:nvSpPr>
          <p:cNvPr id="40" name="Text 38"/>
          <p:cNvSpPr/>
          <p:nvPr/>
        </p:nvSpPr>
        <p:spPr>
          <a:xfrm>
            <a:off x="6309360" y="1627632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RandomForest default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8366760" y="1627632"/>
            <a:ext cx="868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79.1118%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9235440" y="1627632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.805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9829800" y="1627632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.545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10424160" y="1627632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.650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6309360" y="2020824"/>
            <a:ext cx="20574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LMT</a:t>
            </a:r>
            <a:endParaRPr lang="en-US" sz="810" dirty="0"/>
          </a:p>
        </p:txBody>
      </p:sp>
      <p:sp>
        <p:nvSpPr>
          <p:cNvPr id="46" name="Text 44"/>
          <p:cNvSpPr/>
          <p:nvPr/>
        </p:nvSpPr>
        <p:spPr>
          <a:xfrm>
            <a:off x="8366760" y="2020824"/>
            <a:ext cx="8686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74.2599%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9235440" y="2020824"/>
            <a:ext cx="5943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.644</a:t>
            </a:r>
            <a:endParaRPr lang="en-US" sz="810" dirty="0"/>
          </a:p>
        </p:txBody>
      </p:sp>
      <p:sp>
        <p:nvSpPr>
          <p:cNvPr id="48" name="Text 46"/>
          <p:cNvSpPr/>
          <p:nvPr/>
        </p:nvSpPr>
        <p:spPr>
          <a:xfrm>
            <a:off x="9829800" y="2020824"/>
            <a:ext cx="5943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.616</a:t>
            </a:r>
            <a:endParaRPr lang="en-US" sz="810" dirty="0"/>
          </a:p>
        </p:txBody>
      </p:sp>
      <p:sp>
        <p:nvSpPr>
          <p:cNvPr id="49" name="Text 47"/>
          <p:cNvSpPr/>
          <p:nvPr/>
        </p:nvSpPr>
        <p:spPr>
          <a:xfrm>
            <a:off x="10424160" y="2020824"/>
            <a:ext cx="5943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.630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6309360" y="2414016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RandomCommittee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8366760" y="2414016"/>
            <a:ext cx="868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76.2747%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9235440" y="2414016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.716</a:t>
            </a:r>
            <a:endParaRPr lang="en-US" sz="810" dirty="0"/>
          </a:p>
        </p:txBody>
      </p:sp>
      <p:sp>
        <p:nvSpPr>
          <p:cNvPr id="53" name="Text 51"/>
          <p:cNvSpPr/>
          <p:nvPr/>
        </p:nvSpPr>
        <p:spPr>
          <a:xfrm>
            <a:off x="9829800" y="2414016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.553</a:t>
            </a:r>
            <a:endParaRPr lang="en-US" sz="810" dirty="0"/>
          </a:p>
        </p:txBody>
      </p:sp>
      <p:sp>
        <p:nvSpPr>
          <p:cNvPr id="54" name="Text 52"/>
          <p:cNvSpPr/>
          <p:nvPr/>
        </p:nvSpPr>
        <p:spPr>
          <a:xfrm>
            <a:off x="10424160" y="2414016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.624</a:t>
            </a:r>
            <a:endParaRPr lang="en-US" sz="810" dirty="0"/>
          </a:p>
        </p:txBody>
      </p:sp>
      <p:sp>
        <p:nvSpPr>
          <p:cNvPr id="55" name="Text 53"/>
          <p:cNvSpPr/>
          <p:nvPr/>
        </p:nvSpPr>
        <p:spPr>
          <a:xfrm>
            <a:off x="6309360" y="2807208"/>
            <a:ext cx="20574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MLP</a:t>
            </a:r>
            <a:endParaRPr lang="en-US" sz="810" dirty="0"/>
          </a:p>
        </p:txBody>
      </p:sp>
      <p:sp>
        <p:nvSpPr>
          <p:cNvPr id="56" name="Text 54"/>
          <p:cNvSpPr/>
          <p:nvPr/>
        </p:nvSpPr>
        <p:spPr>
          <a:xfrm>
            <a:off x="8366760" y="2807208"/>
            <a:ext cx="86868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74.0543%</a:t>
            </a:r>
            <a:endParaRPr lang="en-US" sz="810" dirty="0"/>
          </a:p>
        </p:txBody>
      </p:sp>
      <p:sp>
        <p:nvSpPr>
          <p:cNvPr id="57" name="Text 55"/>
          <p:cNvSpPr/>
          <p:nvPr/>
        </p:nvSpPr>
        <p:spPr>
          <a:xfrm>
            <a:off x="9235440" y="2807208"/>
            <a:ext cx="5943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.646</a:t>
            </a:r>
            <a:endParaRPr lang="en-US" sz="810" dirty="0"/>
          </a:p>
        </p:txBody>
      </p:sp>
      <p:sp>
        <p:nvSpPr>
          <p:cNvPr id="58" name="Text 56"/>
          <p:cNvSpPr/>
          <p:nvPr/>
        </p:nvSpPr>
        <p:spPr>
          <a:xfrm>
            <a:off x="9829800" y="2807208"/>
            <a:ext cx="5943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.600</a:t>
            </a:r>
            <a:endParaRPr lang="en-US" sz="810" dirty="0"/>
          </a:p>
        </p:txBody>
      </p:sp>
      <p:sp>
        <p:nvSpPr>
          <p:cNvPr id="59" name="Text 57"/>
          <p:cNvSpPr/>
          <p:nvPr/>
        </p:nvSpPr>
        <p:spPr>
          <a:xfrm>
            <a:off x="10424160" y="2807208"/>
            <a:ext cx="5943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.622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6309360" y="3200400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0F172A"/>
                </a:solidFill>
              </a:rPr>
              <a:t>ZeroR</a:t>
            </a:r>
            <a:endParaRPr lang="en-US" sz="810" dirty="0"/>
          </a:p>
        </p:txBody>
      </p:sp>
      <p:sp>
        <p:nvSpPr>
          <p:cNvPr id="61" name="Text 59"/>
          <p:cNvSpPr/>
          <p:nvPr/>
        </p:nvSpPr>
        <p:spPr>
          <a:xfrm>
            <a:off x="8366760" y="3200400"/>
            <a:ext cx="868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64.4326%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9235440" y="3200400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.000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9829800" y="3200400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.000</a:t>
            </a:r>
            <a:endParaRPr lang="en-US" sz="810" dirty="0"/>
          </a:p>
        </p:txBody>
      </p:sp>
      <p:sp>
        <p:nvSpPr>
          <p:cNvPr id="64" name="Text 62"/>
          <p:cNvSpPr/>
          <p:nvPr/>
        </p:nvSpPr>
        <p:spPr>
          <a:xfrm>
            <a:off x="10424160" y="3200400"/>
            <a:ext cx="594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0F172A"/>
                </a:solidFill>
              </a:rPr>
              <a:t>.000</a:t>
            </a:r>
            <a:endParaRPr lang="en-US" sz="810" dirty="0"/>
          </a:p>
        </p:txBody>
      </p:sp>
      <p:sp>
        <p:nvSpPr>
          <p:cNvPr id="65" name="Text 63"/>
          <p:cNvSpPr/>
          <p:nvPr/>
        </p:nvSpPr>
        <p:spPr>
          <a:xfrm>
            <a:off x="1005840" y="5074920"/>
            <a:ext cx="987552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Skipped/unavailable algorithms were recorded as skipped audit entries, not failed performance results.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21208" y="6547104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Academic Performance ML Research · Reference-based presentation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64748B"/>
                </a:solidFill>
              </a:rPr>
              <a:t>26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3562</Words>
  <Application>Microsoft Office PowerPoint</Application>
  <PresentationFormat>Widescreen</PresentationFormat>
  <Paragraphs>913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Performance ML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Performance ML Research - Reference-Based Presentation</dc:title>
  <dc:subject>Academic Performance Machine Learning Research</dc:subject>
  <dc:creator>ChatGPT</dc:creator>
  <cp:lastModifiedBy>Prothom Ghosh</cp:lastModifiedBy>
  <cp:revision>9</cp:revision>
  <dcterms:created xsi:type="dcterms:W3CDTF">2026-09-05T15:59:42Z</dcterms:created>
  <dcterms:modified xsi:type="dcterms:W3CDTF">2026-09-09T07:26:58Z</dcterms:modified>
</cp:coreProperties>
</file>