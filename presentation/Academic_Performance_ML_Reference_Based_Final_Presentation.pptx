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the two completed research streams and emphasize that the deck includes reference-paper comparison, methods, final results, limitations, and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give the whole project in under one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safe comparison: same broad research area, different dataset and contribution. The paper motivates the use of social and academic variables; this project adds model evaluation depth.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research framing slide. Make clear that the project has both application questions and a method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task-specific cleaning: fields excluded for Year‑1 are not necessarily useless forever; they were excluded for the prediction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Governance matters because it answers whether the final result was tuned against Test. Phase 2 is stronger because the Test split was prospectively locked.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target distribution. The biggest class is 3.25–3.50, but the classes are not extremely imbalanced.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that RandomForest was not selected by preference; it was selected because it led the broad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a key distinction: feature ranking tells us where direct signal is strong; it does not prove that other features are useless.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strongest scientific points in the project. Negative results show good methodology.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final result slide for Phase 1. Do not oversell the model; the five-class problem remains challenging.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 attention on the confusion matrix. Adjacent CGPA band errors are understandable and should be reported transparently.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target conversion: all yes categories collapsed into Participated, No into NotParticipated, missing and duplicates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shows why the Phase 2 result is cleaner: the Test split was held out before model selection.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point is not only the 79% train-CV accuracy; it is that RandomForest detected participants while ZeroR detected none.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K=12 was selected: best train-CV F1 among tested K values and best Validation F1.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crucial for avoiding the misconception that 81% accuracy means 81% of participants are detected. The participant recall is 61.83%.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Generalization stability is one of the strongest signs that the chosen model is not just a validation fluke.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Avoid directly comparing 59.85% and 81.03% as if the second task is automatically better. Binary tasks are often easier than five-class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cleanest direct comparison with the reference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shows that the work can be audited and reproduced. Avoid discussing data-generation details unless asked; the reference document intentionally excluded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protects the scientific credibility of the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by saying the next phase is not more Test tuning; it is robustness, reproducibility, and final paper/presentation integration.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answers short in a viva. The goal is clarity and defensible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slide only. Use it if asked about metrics.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backup slide prevents the main deck from becoming too dense while still including benchmark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749808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Academic Performance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Machine Learning Research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694944" y="2240280"/>
            <a:ext cx="5897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334155"/>
                </a:solidFill>
              </a:rPr>
              <a:t>Predicting Year‑1 CGPA and Research Participation with controlled benchmarking, feature analysis, and held‑out evaluation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94944" y="3090672"/>
            <a:ext cx="4160520" cy="329184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2355B"/>
                </a:solidFill>
              </a:rPr>
              <a:t>Complete through Phase 2 · Reference-paper comparison included</a:t>
            </a:r>
            <a:endParaRPr lang="en-US" sz="1120" dirty="0"/>
          </a:p>
        </p:txBody>
      </p:sp>
      <p:sp>
        <p:nvSpPr>
          <p:cNvPr id="6" name="Text 4"/>
          <p:cNvSpPr/>
          <p:nvPr/>
        </p:nvSpPr>
        <p:spPr>
          <a:xfrm>
            <a:off x="7178040" y="987552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2563EB"/>
                </a:solidFill>
              </a:rPr>
              <a:t>59.85%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7178040" y="1453896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Year‑1 CGPA test accuracy</a:t>
            </a:r>
            <a:endParaRPr lang="en-US" sz="990" dirty="0"/>
          </a:p>
        </p:txBody>
      </p:sp>
      <p:sp>
        <p:nvSpPr>
          <p:cNvPr id="8" name="Text 6"/>
          <p:cNvSpPr/>
          <p:nvPr/>
        </p:nvSpPr>
        <p:spPr>
          <a:xfrm>
            <a:off x="9189720" y="987552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0F766E"/>
                </a:solidFill>
              </a:rPr>
              <a:t>0.598</a:t>
            </a:r>
            <a:endParaRPr lang="en-US" sz="2650" dirty="0"/>
          </a:p>
        </p:txBody>
      </p:sp>
      <p:sp>
        <p:nvSpPr>
          <p:cNvPr id="9" name="Text 7"/>
          <p:cNvSpPr/>
          <p:nvPr/>
        </p:nvSpPr>
        <p:spPr>
          <a:xfrm>
            <a:off x="9189720" y="1453896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Year‑1 weighted F1</a:t>
            </a:r>
            <a:endParaRPr lang="en-US" sz="990" dirty="0"/>
          </a:p>
        </p:txBody>
      </p:sp>
      <p:sp>
        <p:nvSpPr>
          <p:cNvPr id="10" name="Shape 8"/>
          <p:cNvSpPr/>
          <p:nvPr/>
        </p:nvSpPr>
        <p:spPr>
          <a:xfrm>
            <a:off x="7132320" y="2176272"/>
            <a:ext cx="40233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78040" y="25420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15803D"/>
                </a:solidFill>
              </a:rPr>
              <a:t>81.03%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7178040" y="3008376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ResearchParticipation test accuracy</a:t>
            </a:r>
            <a:endParaRPr lang="en-US" sz="990" dirty="0"/>
          </a:p>
        </p:txBody>
      </p:sp>
      <p:sp>
        <p:nvSpPr>
          <p:cNvPr id="13" name="Text 11"/>
          <p:cNvSpPr/>
          <p:nvPr/>
        </p:nvSpPr>
        <p:spPr>
          <a:xfrm>
            <a:off x="9646920" y="25420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7C3AED"/>
                </a:solidFill>
              </a:rPr>
              <a:t>0.699</a:t>
            </a:r>
            <a:endParaRPr lang="en-US" sz="2650" dirty="0"/>
          </a:p>
        </p:txBody>
      </p:sp>
      <p:sp>
        <p:nvSpPr>
          <p:cNvPr id="14" name="Text 12"/>
          <p:cNvSpPr/>
          <p:nvPr/>
        </p:nvSpPr>
        <p:spPr>
          <a:xfrm>
            <a:off x="9646920" y="300837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Participated-class F1</a:t>
            </a:r>
            <a:endParaRPr lang="en-US" sz="990" dirty="0"/>
          </a:p>
        </p:txBody>
      </p:sp>
      <p:sp>
        <p:nvSpPr>
          <p:cNvPr id="15" name="Text 13"/>
          <p:cNvSpPr/>
          <p:nvPr/>
        </p:nvSpPr>
        <p:spPr>
          <a:xfrm>
            <a:off x="7132320" y="4187952"/>
            <a:ext cx="3931920" cy="292608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Main message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59752" y="4645152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</a:rPr>
              <a:t>RandomForest was the strongest model family across both prediction tasks, but the project’s value is the full workflow: benchmark → tune → validate → freeze → test → interpret responsibly.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01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 presentation takeaway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The research moved from educational-data motivation to two completed predictive studies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417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PROJECT STORY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13232" y="169164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</a:rPr>
              <a:t>This is not just a single model demo. It is a documented learning-analytics workflow with two prediction targets, broad model comparison, feature analysis, and final test evaluation.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806440" y="1572768"/>
            <a:ext cx="1172718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1</a:t>
            </a:r>
            <a:endParaRPr lang="en-US" sz="970" dirty="0"/>
          </a:p>
        </p:txBody>
      </p:sp>
      <p:sp>
        <p:nvSpPr>
          <p:cNvPr id="8" name="Text 6"/>
          <p:cNvSpPr/>
          <p:nvPr/>
        </p:nvSpPr>
        <p:spPr>
          <a:xfrm>
            <a:off x="5806440" y="1984248"/>
            <a:ext cx="117271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Define target and safe predictors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997446" y="2286000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7143750" y="1572768"/>
            <a:ext cx="1172718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2</a:t>
            </a:r>
            <a:endParaRPr lang="en-US" sz="970" dirty="0"/>
          </a:p>
        </p:txBody>
      </p:sp>
      <p:sp>
        <p:nvSpPr>
          <p:cNvPr id="11" name="Text 9"/>
          <p:cNvSpPr/>
          <p:nvPr/>
        </p:nvSpPr>
        <p:spPr>
          <a:xfrm>
            <a:off x="7143750" y="1984248"/>
            <a:ext cx="117271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Benchmark many classifier families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334756" y="2286000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8481060" y="1572768"/>
            <a:ext cx="1172718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3</a:t>
            </a:r>
            <a:endParaRPr lang="en-US" sz="970" dirty="0"/>
          </a:p>
        </p:txBody>
      </p:sp>
      <p:sp>
        <p:nvSpPr>
          <p:cNvPr id="14" name="Text 12"/>
          <p:cNvSpPr/>
          <p:nvPr/>
        </p:nvSpPr>
        <p:spPr>
          <a:xfrm>
            <a:off x="8481060" y="1984248"/>
            <a:ext cx="117271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Tune using development data only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672066" y="2286000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818370" y="1572768"/>
            <a:ext cx="1172718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4</a:t>
            </a:r>
            <a:endParaRPr lang="en-US" sz="970" dirty="0"/>
          </a:p>
        </p:txBody>
      </p:sp>
      <p:sp>
        <p:nvSpPr>
          <p:cNvPr id="17" name="Text 15"/>
          <p:cNvSpPr/>
          <p:nvPr/>
        </p:nvSpPr>
        <p:spPr>
          <a:xfrm>
            <a:off x="9818370" y="1984248"/>
            <a:ext cx="117271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Freeze and evaluate final test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3767328"/>
            <a:ext cx="1143000" cy="31089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84832" y="3730752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0F172A"/>
                </a:solidFill>
              </a:rPr>
              <a:t>Year‑1 CGPA five-class classification reached 59.85% Test accuracy and 0.598 weighted F1.</a:t>
            </a:r>
            <a:endParaRPr lang="en-US" sz="1570" dirty="0"/>
          </a:p>
        </p:txBody>
      </p:sp>
      <p:sp>
        <p:nvSpPr>
          <p:cNvPr id="20" name="Text 18"/>
          <p:cNvSpPr/>
          <p:nvPr/>
        </p:nvSpPr>
        <p:spPr>
          <a:xfrm>
            <a:off x="777240" y="4617720"/>
            <a:ext cx="1143000" cy="31089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084832" y="4581144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0F172A"/>
                </a:solidFill>
              </a:rPr>
              <a:t>ResearchParticipation binary classification reached 81.03% Test accuracy and 0.699 F1 for participants.</a:t>
            </a:r>
            <a:endParaRPr lang="en-US" sz="1570" dirty="0"/>
          </a:p>
        </p:txBody>
      </p:sp>
      <p:sp>
        <p:nvSpPr>
          <p:cNvPr id="22" name="Text 20"/>
          <p:cNvSpPr/>
          <p:nvPr/>
        </p:nvSpPr>
        <p:spPr>
          <a:xfrm>
            <a:off x="6144768" y="4187952"/>
            <a:ext cx="4498848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580C"/>
                </a:solidFill>
              </a:rPr>
              <a:t>Safe comparison with the paper: this project extends educational data mining in predictive-model depth, not by claiming to outperform the reference article.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02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paper and positioning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Delahoz‑Dominguez, Zuluaga &amp; Fontalvo‑Herrera, Data in Brief, 2020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4173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50" dirty="0">
                <a:solidFill>
                  <a:srgbClr val="0F172A"/>
                </a:solidFill>
              </a:rPr>
              <a:t>The reference article presents a Colombian engineering-student dataset built by linking secondary-school and end-of-university assessment records. It motivates educational data mining using academic and social variables, but it is a data article rather than a classifier benchmark.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86384" y="306324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12355B"/>
                </a:solidFill>
              </a:rPr>
              <a:t>12,411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786384" y="352958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reference-paper observations</a:t>
            </a:r>
            <a:endParaRPr lang="en-US" sz="990" dirty="0"/>
          </a:p>
        </p:txBody>
      </p:sp>
      <p:sp>
        <p:nvSpPr>
          <p:cNvPr id="8" name="Text 6"/>
          <p:cNvSpPr/>
          <p:nvPr/>
        </p:nvSpPr>
        <p:spPr>
          <a:xfrm>
            <a:off x="2880360" y="306324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0F766E"/>
                </a:solidFill>
              </a:rPr>
              <a:t>44</a:t>
            </a:r>
            <a:endParaRPr lang="en-US" sz="2650" dirty="0"/>
          </a:p>
        </p:txBody>
      </p:sp>
      <p:sp>
        <p:nvSpPr>
          <p:cNvPr id="9" name="Text 7"/>
          <p:cNvSpPr/>
          <p:nvPr/>
        </p:nvSpPr>
        <p:spPr>
          <a:xfrm>
            <a:off x="2880360" y="3529584"/>
            <a:ext cx="1600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reference-paper variables</a:t>
            </a:r>
            <a:endParaRPr lang="en-US" sz="990" dirty="0"/>
          </a:p>
        </p:txBody>
      </p:sp>
      <p:sp>
        <p:nvSpPr>
          <p:cNvPr id="10" name="Text 8"/>
          <p:cNvSpPr/>
          <p:nvPr/>
        </p:nvSpPr>
        <p:spPr>
          <a:xfrm>
            <a:off x="786384" y="45262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2563EB"/>
                </a:solidFill>
              </a:rPr>
              <a:t>3,516</a:t>
            </a:r>
            <a:endParaRPr lang="en-US" sz="2650" dirty="0"/>
          </a:p>
        </p:txBody>
      </p:sp>
      <p:sp>
        <p:nvSpPr>
          <p:cNvPr id="11" name="Text 9"/>
          <p:cNvSpPr/>
          <p:nvPr/>
        </p:nvSpPr>
        <p:spPr>
          <a:xfrm>
            <a:off x="786384" y="499262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raw observations in this project</a:t>
            </a:r>
            <a:endParaRPr lang="en-US" sz="990" dirty="0"/>
          </a:p>
        </p:txBody>
      </p:sp>
      <p:sp>
        <p:nvSpPr>
          <p:cNvPr id="12" name="Text 10"/>
          <p:cNvSpPr/>
          <p:nvPr/>
        </p:nvSpPr>
        <p:spPr>
          <a:xfrm>
            <a:off x="2880360" y="452628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7C3AED"/>
                </a:solidFill>
              </a:rPr>
              <a:t>32</a:t>
            </a:r>
            <a:endParaRPr lang="en-US" sz="2650" dirty="0"/>
          </a:p>
        </p:txBody>
      </p:sp>
      <p:sp>
        <p:nvSpPr>
          <p:cNvPr id="13" name="Text 11"/>
          <p:cNvSpPr/>
          <p:nvPr/>
        </p:nvSpPr>
        <p:spPr>
          <a:xfrm>
            <a:off x="2880360" y="4992624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raw variables before cleaning</a:t>
            </a:r>
            <a:endParaRPr lang="en-US" sz="990" dirty="0"/>
          </a:p>
        </p:txBody>
      </p:sp>
      <p:sp>
        <p:nvSpPr>
          <p:cNvPr id="14" name="Text 12"/>
          <p:cNvSpPr/>
          <p:nvPr/>
        </p:nvSpPr>
        <p:spPr>
          <a:xfrm>
            <a:off x="5989320" y="1417320"/>
            <a:ext cx="12344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Dimension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7223760" y="1417320"/>
            <a:ext cx="196596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Reference paper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9189720" y="1417320"/>
            <a:ext cx="20574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This project</a:t>
            </a:r>
            <a:endParaRPr lang="en-US" sz="910" dirty="0"/>
          </a:p>
        </p:txBody>
      </p:sp>
      <p:sp>
        <p:nvSpPr>
          <p:cNvPr id="17" name="Text 15"/>
          <p:cNvSpPr/>
          <p:nvPr/>
        </p:nvSpPr>
        <p:spPr>
          <a:xfrm>
            <a:off x="5989320" y="1746504"/>
            <a:ext cx="1234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Primary output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7223760" y="1746504"/>
            <a:ext cx="1965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Dataset article and release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9189720" y="1746504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Predictive modeling workflow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5989320" y="2276856"/>
            <a:ext cx="123444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Data scope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7223760" y="2276856"/>
            <a:ext cx="19659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Colombian engineering assessments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9189720" y="2276856"/>
            <a:ext cx="20574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Academic / context survey data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989320" y="2807208"/>
            <a:ext cx="1234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Model benchmark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7223760" y="2807208"/>
            <a:ext cx="1965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No equivalent classifier benchmark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9189720" y="2807208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WEKA + Python benchmarks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989320" y="3337560"/>
            <a:ext cx="123444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Final tasks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7223760" y="3337560"/>
            <a:ext cx="19659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Not the article focus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9189720" y="3337560"/>
            <a:ext cx="20574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CGPA + ResearchParticipation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6035040" y="4846320"/>
            <a:ext cx="4846320" cy="56692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DC2626"/>
                </a:solidFill>
              </a:rPr>
              <a:t>Do not claim: “our model beats the paper.” There is no equivalent accuracy/F1 benchmark in the reference article.</a:t>
            </a:r>
            <a:endParaRPr lang="en-US" sz="1420" dirty="0"/>
          </a:p>
        </p:txBody>
      </p:sp>
      <p:sp>
        <p:nvSpPr>
          <p:cNvPr id="30" name="Text 28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03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Research questions and contribution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Two predictive tasks plus one methodological feature-selection question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11430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Question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1828800" y="1353312"/>
            <a:ext cx="242316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Operational task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4251960" y="1353312"/>
            <a:ext cx="338328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Information scope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685800" y="1682496"/>
            <a:ext cx="1143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72A"/>
                </a:solidFill>
              </a:rPr>
              <a:t>RQ1</a:t>
            </a:r>
            <a:endParaRPr lang="en-US" sz="960" dirty="0"/>
          </a:p>
        </p:txBody>
      </p:sp>
      <p:sp>
        <p:nvSpPr>
          <p:cNvPr id="9" name="Text 7"/>
          <p:cNvSpPr/>
          <p:nvPr/>
        </p:nvSpPr>
        <p:spPr>
          <a:xfrm>
            <a:off x="1828800" y="1682496"/>
            <a:ext cx="2423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0F172A"/>
                </a:solidFill>
              </a:rPr>
              <a:t>Predict Year‑1 CGPA category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4251960" y="1682496"/>
            <a:ext cx="33832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0F172A"/>
                </a:solidFill>
              </a:rPr>
              <a:t>Use pre-/entry-level information; remove later university outcomes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685800" y="2395728"/>
            <a:ext cx="1143000" cy="71323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72A"/>
                </a:solidFill>
              </a:rPr>
              <a:t>RQ2</a:t>
            </a:r>
            <a:endParaRPr lang="en-US" sz="960" dirty="0"/>
          </a:p>
        </p:txBody>
      </p:sp>
      <p:sp>
        <p:nvSpPr>
          <p:cNvPr id="12" name="Text 10"/>
          <p:cNvSpPr/>
          <p:nvPr/>
        </p:nvSpPr>
        <p:spPr>
          <a:xfrm>
            <a:off x="1828800" y="2395728"/>
            <a:ext cx="2423160" cy="71323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0F172A"/>
                </a:solidFill>
              </a:rPr>
              <a:t>Predict ResearchParticipation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4251960" y="2395728"/>
            <a:ext cx="3383280" cy="71323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0F172A"/>
                </a:solidFill>
              </a:rPr>
              <a:t>Use cleaned contextual predictors plus Year1CGPA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685800" y="3108960"/>
            <a:ext cx="1143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0F172A"/>
                </a:solidFill>
              </a:rPr>
              <a:t>Method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1828800" y="3108960"/>
            <a:ext cx="2423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0F172A"/>
                </a:solidFill>
              </a:rPr>
              <a:t>Do compact feature subsets preserve performance?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4251960" y="3108960"/>
            <a:ext cx="33832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0F172A"/>
                </a:solidFill>
              </a:rPr>
              <a:t>Test with leakage-controlled feature selection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8275320" y="1371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5803D"/>
                </a:solidFill>
              </a:rPr>
              <a:t>PROJECT CONTRIBUTION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75320" y="171907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334155"/>
                </a:solidFill>
              </a:rPr>
              <a:t>• Broad multi-family WEKA benchmark instead of one-model reporting.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275320" y="233172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334155"/>
                </a:solidFill>
              </a:rPr>
              <a:t>• Controlled RandomForest tuning and final model freezing.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8275320" y="29443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334155"/>
                </a:solidFill>
              </a:rPr>
              <a:t>• Feature analysis through RF importance, Information Gain, and CFS.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8275320" y="355701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334155"/>
                </a:solidFill>
              </a:rPr>
              <a:t>• Held-out evaluation with archived artifacts and documentation.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8275320" y="41696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334155"/>
                </a:solidFill>
              </a:rPr>
              <a:t>• Second independent target: ResearchParticipation, with 28 substantive models completed.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04672" y="5193792"/>
            <a:ext cx="65836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12355B"/>
                </a:solidFill>
              </a:rPr>
              <a:t>Core methodological theme: predictive performance must be reported together with leakage control, model-selection discipline, and responsible interpretation.</a:t>
            </a:r>
            <a:endParaRPr lang="en-US" sz="1530" dirty="0"/>
          </a:p>
        </p:txBody>
      </p:sp>
      <p:sp>
        <p:nvSpPr>
          <p:cNvPr id="24" name="Text 22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04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after collection and task-specific cleaning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The same raw project dataset supports two different modeling tables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17320"/>
            <a:ext cx="20116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Stage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697480" y="1417320"/>
            <a:ext cx="9144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Rows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611880" y="1417320"/>
            <a:ext cx="20116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Columns / attributes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5623560" y="1417320"/>
            <a:ext cx="17830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Purpose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685800" y="1746504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Raw project dataset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2697480" y="1746504"/>
            <a:ext cx="914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3,516</a:t>
            </a:r>
            <a:endParaRPr lang="en-US" sz="920" dirty="0"/>
          </a:p>
        </p:txBody>
      </p:sp>
      <p:sp>
        <p:nvSpPr>
          <p:cNvPr id="11" name="Text 9"/>
          <p:cNvSpPr/>
          <p:nvPr/>
        </p:nvSpPr>
        <p:spPr>
          <a:xfrm>
            <a:off x="3611880" y="1746504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32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5623560" y="1746504"/>
            <a:ext cx="1783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Starting point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685800" y="2368296"/>
            <a:ext cx="2011680" cy="6217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Year‑1 final table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2697480" y="2368296"/>
            <a:ext cx="914400" cy="6217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3,516</a:t>
            </a: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3611880" y="2368296"/>
            <a:ext cx="2011680" cy="6217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24 = 23 predictors + target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5623560" y="2368296"/>
            <a:ext cx="1783080" cy="6217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Five-class CGPA prediction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85800" y="2990088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ResearchParticipation table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2697480" y="2990088"/>
            <a:ext cx="914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3,475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3611880" y="2990088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25 = 24 predictors + target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623560" y="2990088"/>
            <a:ext cx="1783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Binary participation prediction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7909560" y="14173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YEAR‑1 FIELD REMOVAL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909560" y="1719072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0F172A"/>
                </a:solidFill>
              </a:rPr>
              <a:t>For the Year‑1 task, later or inappropriate variables were removed: Timestamp, Year2CGPA, living arrangement, part-time employment, monthly expenditure, financial support, club membership, and ResearchParticipation.</a:t>
            </a:r>
            <a:endParaRPr lang="en-US" sz="1330" dirty="0"/>
          </a:p>
        </p:txBody>
      </p:sp>
      <p:sp>
        <p:nvSpPr>
          <p:cNvPr id="23" name="Text 21"/>
          <p:cNvSpPr/>
          <p:nvPr/>
        </p:nvSpPr>
        <p:spPr>
          <a:xfrm>
            <a:off x="7909560" y="340156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SHARED PREDICTOR CORE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909560" y="3703320"/>
            <a:ext cx="34290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0F172A"/>
                </a:solidFill>
              </a:rPr>
              <a:t>The final predictor set includes faculty/institution, HSC year, gender, college category/location, HSC marks, family and household features, resource access, preferences, and parental education/employment.</a:t>
            </a:r>
            <a:endParaRPr lang="en-US" sz="1330" dirty="0"/>
          </a:p>
        </p:txBody>
      </p:sp>
      <p:sp>
        <p:nvSpPr>
          <p:cNvPr id="25" name="Text 23"/>
          <p:cNvSpPr/>
          <p:nvPr/>
        </p:nvSpPr>
        <p:spPr>
          <a:xfrm>
            <a:off x="7909560" y="5230368"/>
            <a:ext cx="3337560" cy="329184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803D"/>
                </a:solidFill>
              </a:rPr>
              <a:t>ResearchParticipation adds Year1CGPA as the 24th predictor.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05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Methodology and governance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Benchmark widely, tune narrowly, freeze before final Test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1633728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Target</a:t>
            </a:r>
            <a:endParaRPr lang="en-US" sz="970" dirty="0"/>
          </a:p>
        </p:txBody>
      </p:sp>
      <p:sp>
        <p:nvSpPr>
          <p:cNvPr id="6" name="Text 4"/>
          <p:cNvSpPr/>
          <p:nvPr/>
        </p:nvSpPr>
        <p:spPr>
          <a:xfrm>
            <a:off x="68580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Define outcome + horizon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33781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484120" y="1353312"/>
            <a:ext cx="1633728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Clean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248412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Prepare modeling table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3613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282440" y="1353312"/>
            <a:ext cx="1633728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Benchmark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428244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Many families in WEKA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3445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080760" y="1353312"/>
            <a:ext cx="1633728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Tune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608076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Restricted RF tuning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73277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7879080" y="1353312"/>
            <a:ext cx="1633728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Freeze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787908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Lock config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53109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677400" y="1353312"/>
            <a:ext cx="1633728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Test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967740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Final held-out evaluation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68680" y="3127248"/>
            <a:ext cx="14173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Phase</a:t>
            </a:r>
            <a:endParaRPr lang="en-US" sz="910" dirty="0"/>
          </a:p>
        </p:txBody>
      </p:sp>
      <p:sp>
        <p:nvSpPr>
          <p:cNvPr id="23" name="Text 21"/>
          <p:cNvSpPr/>
          <p:nvPr/>
        </p:nvSpPr>
        <p:spPr>
          <a:xfrm>
            <a:off x="2286000" y="3127248"/>
            <a:ext cx="46177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Governance status</a:t>
            </a:r>
            <a:endParaRPr lang="en-US" sz="910" dirty="0"/>
          </a:p>
        </p:txBody>
      </p:sp>
      <p:sp>
        <p:nvSpPr>
          <p:cNvPr id="24" name="Text 22"/>
          <p:cNvSpPr/>
          <p:nvPr/>
        </p:nvSpPr>
        <p:spPr>
          <a:xfrm>
            <a:off x="6903720" y="3127248"/>
            <a:ext cx="40690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Interpretation</a:t>
            </a:r>
            <a:endParaRPr lang="en-US" sz="910" dirty="0"/>
          </a:p>
        </p:txBody>
      </p:sp>
      <p:sp>
        <p:nvSpPr>
          <p:cNvPr id="25" name="Text 23"/>
          <p:cNvSpPr/>
          <p:nvPr/>
        </p:nvSpPr>
        <p:spPr>
          <a:xfrm>
            <a:off x="868680" y="3456432"/>
            <a:ext cx="1417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0F172A"/>
                </a:solidFill>
              </a:rPr>
              <a:t>Year‑1 CGPA</a:t>
            </a:r>
            <a:endParaRPr lang="en-US" sz="890" dirty="0"/>
          </a:p>
        </p:txBody>
      </p:sp>
      <p:sp>
        <p:nvSpPr>
          <p:cNvPr id="26" name="Text 24"/>
          <p:cNvSpPr/>
          <p:nvPr/>
        </p:nvSpPr>
        <p:spPr>
          <a:xfrm>
            <a:off x="2286000" y="3456432"/>
            <a:ext cx="46177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0F172A"/>
                </a:solidFill>
              </a:rPr>
              <a:t>Final Python pipeline kept Test out of coded tuning, but earlier WEKA exploration used the full dataset before split</a:t>
            </a:r>
            <a:endParaRPr lang="en-US" sz="890" dirty="0"/>
          </a:p>
        </p:txBody>
      </p:sp>
      <p:sp>
        <p:nvSpPr>
          <p:cNvPr id="27" name="Text 25"/>
          <p:cNvSpPr/>
          <p:nvPr/>
        </p:nvSpPr>
        <p:spPr>
          <a:xfrm>
            <a:off x="6903720" y="3456432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0F172A"/>
                </a:solidFill>
              </a:rPr>
              <a:t>Report as held-out test of final coded pipeline; acknowledge historical caveat</a:t>
            </a:r>
            <a:endParaRPr lang="en-US" sz="890" dirty="0"/>
          </a:p>
        </p:txBody>
      </p:sp>
      <p:sp>
        <p:nvSpPr>
          <p:cNvPr id="28" name="Text 26"/>
          <p:cNvSpPr/>
          <p:nvPr/>
        </p:nvSpPr>
        <p:spPr>
          <a:xfrm>
            <a:off x="868680" y="4206240"/>
            <a:ext cx="141732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90" dirty="0">
                <a:solidFill>
                  <a:srgbClr val="0F172A"/>
                </a:solidFill>
              </a:rPr>
              <a:t>ResearchParticipation</a:t>
            </a:r>
            <a:endParaRPr lang="en-US" sz="890" dirty="0"/>
          </a:p>
        </p:txBody>
      </p:sp>
      <p:sp>
        <p:nvSpPr>
          <p:cNvPr id="29" name="Text 27"/>
          <p:cNvSpPr/>
          <p:nvPr/>
        </p:nvSpPr>
        <p:spPr>
          <a:xfrm>
            <a:off x="2286000" y="4206240"/>
            <a:ext cx="461772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0F172A"/>
                </a:solidFill>
              </a:rPr>
              <a:t>Fixed split created before model sweep; 522-row Test was not used during selection/tuning</a:t>
            </a:r>
            <a:endParaRPr lang="en-US" sz="890" dirty="0"/>
          </a:p>
        </p:txBody>
      </p:sp>
      <p:sp>
        <p:nvSpPr>
          <p:cNvPr id="30" name="Text 28"/>
          <p:cNvSpPr/>
          <p:nvPr/>
        </p:nvSpPr>
        <p:spPr>
          <a:xfrm>
            <a:off x="6903720" y="4206240"/>
            <a:ext cx="406908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90" dirty="0">
                <a:solidFill>
                  <a:srgbClr val="0F172A"/>
                </a:solidFill>
              </a:rPr>
              <a:t>Stronger prospective Test governance; model frozen before final Test</a:t>
            </a:r>
            <a:endParaRPr lang="en-US" sz="890" dirty="0"/>
          </a:p>
        </p:txBody>
      </p:sp>
      <p:sp>
        <p:nvSpPr>
          <p:cNvPr id="31" name="Text 29"/>
          <p:cNvSpPr/>
          <p:nvPr/>
        </p:nvSpPr>
        <p:spPr>
          <a:xfrm>
            <a:off x="1005840" y="5285232"/>
            <a:ext cx="9738360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355B"/>
                </a:solidFill>
              </a:rPr>
              <a:t>Metrics used together: Accuracy, Precision, Recall, F1, Macro/Weighted F1, Kappa, MCC, ROC-AUC, PRC-AUC, and confusion matrices.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06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target: Year‑1 CGPA category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Five-class nominal classification with 3,516 observations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&lt;3.00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084832" y="1517904"/>
            <a:ext cx="1611804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05272" y="143560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463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199339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3.00–3.25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84832" y="2048256"/>
            <a:ext cx="2280198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05272" y="1965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655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5237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3.25–3.50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084832" y="2578608"/>
            <a:ext cx="342900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05272" y="249631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985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05409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3.50–3.75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084832" y="3108960"/>
            <a:ext cx="2854599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05272" y="302666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820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5844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&gt;3.75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084832" y="3639312"/>
            <a:ext cx="2064362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05272" y="35570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593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12280" y="1481328"/>
            <a:ext cx="4023360" cy="566928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EA580C"/>
                </a:solidFill>
              </a:rPr>
              <a:t>The target is ordered in meaning, but treated as nominal by WEKA and scikit‑learn classifiers.</a:t>
            </a:r>
            <a:endParaRPr lang="en-US" sz="1520" dirty="0"/>
          </a:p>
        </p:txBody>
      </p:sp>
      <p:sp>
        <p:nvSpPr>
          <p:cNvPr id="21" name="Text 19"/>
          <p:cNvSpPr/>
          <p:nvPr/>
        </p:nvSpPr>
        <p:spPr>
          <a:xfrm>
            <a:off x="6903720" y="257860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2563EB"/>
                </a:solidFill>
              </a:rPr>
              <a:t>23</a:t>
            </a:r>
            <a:endParaRPr lang="en-US" sz="2650" dirty="0"/>
          </a:p>
        </p:txBody>
      </p:sp>
      <p:sp>
        <p:nvSpPr>
          <p:cNvPr id="22" name="Text 20"/>
          <p:cNvSpPr/>
          <p:nvPr/>
        </p:nvSpPr>
        <p:spPr>
          <a:xfrm>
            <a:off x="6903720" y="304495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predictors</a:t>
            </a:r>
            <a:endParaRPr lang="en-US" sz="990" dirty="0"/>
          </a:p>
        </p:txBody>
      </p:sp>
      <p:sp>
        <p:nvSpPr>
          <p:cNvPr id="23" name="Text 21"/>
          <p:cNvSpPr/>
          <p:nvPr/>
        </p:nvSpPr>
        <p:spPr>
          <a:xfrm>
            <a:off x="8549640" y="25786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7C3AED"/>
                </a:solidFill>
              </a:rPr>
              <a:t>5</a:t>
            </a:r>
            <a:endParaRPr lang="en-US" sz="2650" dirty="0"/>
          </a:p>
        </p:txBody>
      </p:sp>
      <p:sp>
        <p:nvSpPr>
          <p:cNvPr id="24" name="Text 22"/>
          <p:cNvSpPr/>
          <p:nvPr/>
        </p:nvSpPr>
        <p:spPr>
          <a:xfrm>
            <a:off x="8549640" y="30449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CGPA bands</a:t>
            </a:r>
            <a:endParaRPr lang="en-US" sz="990" dirty="0"/>
          </a:p>
        </p:txBody>
      </p:sp>
      <p:sp>
        <p:nvSpPr>
          <p:cNvPr id="25" name="Text 23"/>
          <p:cNvSpPr/>
          <p:nvPr/>
        </p:nvSpPr>
        <p:spPr>
          <a:xfrm>
            <a:off x="9921240" y="257860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15803D"/>
                </a:solidFill>
              </a:rPr>
              <a:t>3,516</a:t>
            </a:r>
            <a:endParaRPr lang="en-US" sz="2650" dirty="0"/>
          </a:p>
        </p:txBody>
      </p:sp>
      <p:sp>
        <p:nvSpPr>
          <p:cNvPr id="26" name="Text 24"/>
          <p:cNvSpPr/>
          <p:nvPr/>
        </p:nvSpPr>
        <p:spPr>
          <a:xfrm>
            <a:off x="9921240" y="3044952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students/records</a:t>
            </a:r>
            <a:endParaRPr lang="en-US" sz="990" dirty="0"/>
          </a:p>
        </p:txBody>
      </p:sp>
      <p:sp>
        <p:nvSpPr>
          <p:cNvPr id="27" name="Text 25"/>
          <p:cNvSpPr/>
          <p:nvPr/>
        </p:nvSpPr>
        <p:spPr>
          <a:xfrm>
            <a:off x="6903720" y="4041648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0F172A"/>
                </a:solidFill>
              </a:rPr>
              <a:t>Practical meaning: this is harder than binary classification because the model must separate five close performance ranges. Neighboring-band mistakes are expected and should be inspected, not hidden.</a:t>
            </a:r>
            <a:endParaRPr lang="en-US" sz="1540" dirty="0"/>
          </a:p>
        </p:txBody>
      </p:sp>
      <p:sp>
        <p:nvSpPr>
          <p:cNvPr id="28" name="Text 26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07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broad WEKA benchmark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RandomForest led the 10-fold cross-validation model sweep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1673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</a:rPr>
              <a:t>RandomForest</a:t>
            </a:r>
            <a:endParaRPr lang="en-US" sz="920" dirty="0"/>
          </a:p>
        </p:txBody>
      </p:sp>
      <p:sp>
        <p:nvSpPr>
          <p:cNvPr id="6" name="Shape 4"/>
          <p:cNvSpPr/>
          <p:nvPr/>
        </p:nvSpPr>
        <p:spPr>
          <a:xfrm>
            <a:off x="2423160" y="1371600"/>
            <a:ext cx="3336317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0" y="128930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60.32%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658368" y="174650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</a:rPr>
              <a:t>RandomCommittee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2423160" y="1801368"/>
            <a:ext cx="3221490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171907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58.25%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658368" y="21762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</a:rPr>
              <a:t>LMT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2423160" y="2231136"/>
            <a:ext cx="3215196" cy="12801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0" y="214884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58.13%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658368" y="26060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</a:rPr>
              <a:t>KStar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2423160" y="2660904"/>
            <a:ext cx="3210479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257860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58.05%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658368" y="303580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</a:rPr>
              <a:t>IBk (K=1)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2423160" y="3090672"/>
            <a:ext cx="3168009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300837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57.28%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658368" y="346557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</a:rPr>
              <a:t>MLP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2423160" y="3520440"/>
            <a:ext cx="3097222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343814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56.00%</a:t>
            </a:r>
            <a:endParaRPr lang="en-US" sz="870" dirty="0"/>
          </a:p>
        </p:txBody>
      </p:sp>
      <p:sp>
        <p:nvSpPr>
          <p:cNvPr id="23" name="Text 21"/>
          <p:cNvSpPr/>
          <p:nvPr/>
        </p:nvSpPr>
        <p:spPr>
          <a:xfrm>
            <a:off x="658368" y="389534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</a:rPr>
              <a:t>RandomTree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423160" y="3950208"/>
            <a:ext cx="3072058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386791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55.55%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658368" y="432511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</a:rPr>
              <a:t>J48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2423160" y="4379976"/>
            <a:ext cx="2911614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0" y="42976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52.65%</a:t>
            </a:r>
            <a:endParaRPr lang="en-US" sz="870" dirty="0"/>
          </a:p>
        </p:txBody>
      </p:sp>
      <p:sp>
        <p:nvSpPr>
          <p:cNvPr id="29" name="Text 27"/>
          <p:cNvSpPr/>
          <p:nvPr/>
        </p:nvSpPr>
        <p:spPr>
          <a:xfrm>
            <a:off x="6995160" y="1298448"/>
            <a:ext cx="14173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Model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8412480" y="1298448"/>
            <a:ext cx="9601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31" name="Text 29"/>
          <p:cNvSpPr/>
          <p:nvPr/>
        </p:nvSpPr>
        <p:spPr>
          <a:xfrm>
            <a:off x="9372600" y="1298448"/>
            <a:ext cx="6400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W-F1</a:t>
            </a:r>
            <a:endParaRPr lang="en-US" sz="910" dirty="0"/>
          </a:p>
        </p:txBody>
      </p:sp>
      <p:sp>
        <p:nvSpPr>
          <p:cNvPr id="32" name="Text 30"/>
          <p:cNvSpPr/>
          <p:nvPr/>
        </p:nvSpPr>
        <p:spPr>
          <a:xfrm>
            <a:off x="10012680" y="1298448"/>
            <a:ext cx="6400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ROC</a:t>
            </a:r>
            <a:endParaRPr lang="en-US" sz="910" dirty="0"/>
          </a:p>
        </p:txBody>
      </p:sp>
      <p:sp>
        <p:nvSpPr>
          <p:cNvPr id="33" name="Text 31"/>
          <p:cNvSpPr/>
          <p:nvPr/>
        </p:nvSpPr>
        <p:spPr>
          <a:xfrm>
            <a:off x="10652760" y="1298448"/>
            <a:ext cx="658368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PRC</a:t>
            </a:r>
            <a:endParaRPr lang="en-US" sz="910" dirty="0"/>
          </a:p>
        </p:txBody>
      </p:sp>
      <p:sp>
        <p:nvSpPr>
          <p:cNvPr id="34" name="Text 32"/>
          <p:cNvSpPr/>
          <p:nvPr/>
        </p:nvSpPr>
        <p:spPr>
          <a:xfrm>
            <a:off x="6995160" y="1627632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RandomForest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8412480" y="1627632"/>
            <a:ext cx="960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60.3242%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9372600" y="1627632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0.604</a:t>
            </a:r>
            <a:endParaRPr lang="en-US" sz="840" dirty="0"/>
          </a:p>
        </p:txBody>
      </p:sp>
      <p:sp>
        <p:nvSpPr>
          <p:cNvPr id="37" name="Text 35"/>
          <p:cNvSpPr/>
          <p:nvPr/>
        </p:nvSpPr>
        <p:spPr>
          <a:xfrm>
            <a:off x="10012680" y="1627632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0.863</a:t>
            </a:r>
            <a:endParaRPr lang="en-US" sz="840" dirty="0"/>
          </a:p>
        </p:txBody>
      </p:sp>
      <p:sp>
        <p:nvSpPr>
          <p:cNvPr id="38" name="Text 36"/>
          <p:cNvSpPr/>
          <p:nvPr/>
        </p:nvSpPr>
        <p:spPr>
          <a:xfrm>
            <a:off x="10652760" y="1627632"/>
            <a:ext cx="65836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0.724</a:t>
            </a:r>
            <a:endParaRPr lang="en-US" sz="840" dirty="0"/>
          </a:p>
        </p:txBody>
      </p:sp>
      <p:sp>
        <p:nvSpPr>
          <p:cNvPr id="39" name="Text 37"/>
          <p:cNvSpPr/>
          <p:nvPr/>
        </p:nvSpPr>
        <p:spPr>
          <a:xfrm>
            <a:off x="6995160" y="2020824"/>
            <a:ext cx="14173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RandomCommittee</a:t>
            </a:r>
            <a:endParaRPr lang="en-US" sz="840" dirty="0"/>
          </a:p>
        </p:txBody>
      </p:sp>
      <p:sp>
        <p:nvSpPr>
          <p:cNvPr id="40" name="Text 38"/>
          <p:cNvSpPr/>
          <p:nvPr/>
        </p:nvSpPr>
        <p:spPr>
          <a:xfrm>
            <a:off x="8412480" y="2020824"/>
            <a:ext cx="9601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58.2480%</a:t>
            </a:r>
            <a:endParaRPr lang="en-US" sz="840" dirty="0"/>
          </a:p>
        </p:txBody>
      </p:sp>
      <p:sp>
        <p:nvSpPr>
          <p:cNvPr id="41" name="Text 39"/>
          <p:cNvSpPr/>
          <p:nvPr/>
        </p:nvSpPr>
        <p:spPr>
          <a:xfrm>
            <a:off x="9372600" y="2020824"/>
            <a:ext cx="6400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0.583</a:t>
            </a:r>
            <a:endParaRPr lang="en-US" sz="840" dirty="0"/>
          </a:p>
        </p:txBody>
      </p:sp>
      <p:sp>
        <p:nvSpPr>
          <p:cNvPr id="42" name="Text 40"/>
          <p:cNvSpPr/>
          <p:nvPr/>
        </p:nvSpPr>
        <p:spPr>
          <a:xfrm>
            <a:off x="10012680" y="2020824"/>
            <a:ext cx="6400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0.848</a:t>
            </a:r>
            <a:endParaRPr lang="en-US" sz="840" dirty="0"/>
          </a:p>
        </p:txBody>
      </p:sp>
      <p:sp>
        <p:nvSpPr>
          <p:cNvPr id="43" name="Text 41"/>
          <p:cNvSpPr/>
          <p:nvPr/>
        </p:nvSpPr>
        <p:spPr>
          <a:xfrm>
            <a:off x="10652760" y="2020824"/>
            <a:ext cx="658368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0.704</a:t>
            </a:r>
            <a:endParaRPr lang="en-US" sz="840" dirty="0"/>
          </a:p>
        </p:txBody>
      </p:sp>
      <p:sp>
        <p:nvSpPr>
          <p:cNvPr id="44" name="Text 42"/>
          <p:cNvSpPr/>
          <p:nvPr/>
        </p:nvSpPr>
        <p:spPr>
          <a:xfrm>
            <a:off x="6995160" y="2414016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LMT</a:t>
            </a:r>
            <a:endParaRPr lang="en-US" sz="840" dirty="0"/>
          </a:p>
        </p:txBody>
      </p:sp>
      <p:sp>
        <p:nvSpPr>
          <p:cNvPr id="45" name="Text 43"/>
          <p:cNvSpPr/>
          <p:nvPr/>
        </p:nvSpPr>
        <p:spPr>
          <a:xfrm>
            <a:off x="8412480" y="2414016"/>
            <a:ext cx="960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58.1342%</a:t>
            </a:r>
            <a:endParaRPr lang="en-US" sz="840" dirty="0"/>
          </a:p>
        </p:txBody>
      </p:sp>
      <p:sp>
        <p:nvSpPr>
          <p:cNvPr id="46" name="Text 44"/>
          <p:cNvSpPr/>
          <p:nvPr/>
        </p:nvSpPr>
        <p:spPr>
          <a:xfrm>
            <a:off x="9372600" y="2414016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0.581</a:t>
            </a:r>
            <a:endParaRPr lang="en-US" sz="840" dirty="0"/>
          </a:p>
        </p:txBody>
      </p:sp>
      <p:sp>
        <p:nvSpPr>
          <p:cNvPr id="47" name="Text 45"/>
          <p:cNvSpPr/>
          <p:nvPr/>
        </p:nvSpPr>
        <p:spPr>
          <a:xfrm>
            <a:off x="10012680" y="2414016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0.781</a:t>
            </a:r>
            <a:endParaRPr lang="en-US" sz="840" dirty="0"/>
          </a:p>
        </p:txBody>
      </p:sp>
      <p:sp>
        <p:nvSpPr>
          <p:cNvPr id="48" name="Text 46"/>
          <p:cNvSpPr/>
          <p:nvPr/>
        </p:nvSpPr>
        <p:spPr>
          <a:xfrm>
            <a:off x="10652760" y="2414016"/>
            <a:ext cx="65836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0.544</a:t>
            </a:r>
            <a:endParaRPr lang="en-US" sz="840" dirty="0"/>
          </a:p>
        </p:txBody>
      </p:sp>
      <p:sp>
        <p:nvSpPr>
          <p:cNvPr id="49" name="Text 47"/>
          <p:cNvSpPr/>
          <p:nvPr/>
        </p:nvSpPr>
        <p:spPr>
          <a:xfrm>
            <a:off x="6995160" y="2807208"/>
            <a:ext cx="14173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KStar</a:t>
            </a:r>
            <a:endParaRPr lang="en-US" sz="840" dirty="0"/>
          </a:p>
        </p:txBody>
      </p:sp>
      <p:sp>
        <p:nvSpPr>
          <p:cNvPr id="50" name="Text 48"/>
          <p:cNvSpPr/>
          <p:nvPr/>
        </p:nvSpPr>
        <p:spPr>
          <a:xfrm>
            <a:off x="8412480" y="2807208"/>
            <a:ext cx="9601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58.0489%</a:t>
            </a:r>
            <a:endParaRPr lang="en-US" sz="840" dirty="0"/>
          </a:p>
        </p:txBody>
      </p:sp>
      <p:sp>
        <p:nvSpPr>
          <p:cNvPr id="51" name="Text 49"/>
          <p:cNvSpPr/>
          <p:nvPr/>
        </p:nvSpPr>
        <p:spPr>
          <a:xfrm>
            <a:off x="9372600" y="2807208"/>
            <a:ext cx="6400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0.579</a:t>
            </a:r>
            <a:endParaRPr lang="en-US" sz="840" dirty="0"/>
          </a:p>
        </p:txBody>
      </p:sp>
      <p:sp>
        <p:nvSpPr>
          <p:cNvPr id="52" name="Text 50"/>
          <p:cNvSpPr/>
          <p:nvPr/>
        </p:nvSpPr>
        <p:spPr>
          <a:xfrm>
            <a:off x="10012680" y="2807208"/>
            <a:ext cx="6400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0.851</a:t>
            </a:r>
            <a:endParaRPr lang="en-US" sz="840" dirty="0"/>
          </a:p>
        </p:txBody>
      </p:sp>
      <p:sp>
        <p:nvSpPr>
          <p:cNvPr id="53" name="Text 51"/>
          <p:cNvSpPr/>
          <p:nvPr/>
        </p:nvSpPr>
        <p:spPr>
          <a:xfrm>
            <a:off x="10652760" y="2807208"/>
            <a:ext cx="658368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0.702</a:t>
            </a:r>
            <a:endParaRPr lang="en-US" sz="840" dirty="0"/>
          </a:p>
        </p:txBody>
      </p:sp>
      <p:sp>
        <p:nvSpPr>
          <p:cNvPr id="54" name="Text 52"/>
          <p:cNvSpPr/>
          <p:nvPr/>
        </p:nvSpPr>
        <p:spPr>
          <a:xfrm>
            <a:off x="6995160" y="3200400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IBk</a:t>
            </a:r>
            <a:endParaRPr lang="en-US" sz="840" dirty="0"/>
          </a:p>
        </p:txBody>
      </p:sp>
      <p:sp>
        <p:nvSpPr>
          <p:cNvPr id="55" name="Text 53"/>
          <p:cNvSpPr/>
          <p:nvPr/>
        </p:nvSpPr>
        <p:spPr>
          <a:xfrm>
            <a:off x="8412480" y="3200400"/>
            <a:ext cx="960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57.2810%</a:t>
            </a:r>
            <a:endParaRPr lang="en-US" sz="840" dirty="0"/>
          </a:p>
        </p:txBody>
      </p:sp>
      <p:sp>
        <p:nvSpPr>
          <p:cNvPr id="56" name="Text 54"/>
          <p:cNvSpPr/>
          <p:nvPr/>
        </p:nvSpPr>
        <p:spPr>
          <a:xfrm>
            <a:off x="9372600" y="3200400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0.572</a:t>
            </a:r>
            <a:endParaRPr lang="en-US" sz="840" dirty="0"/>
          </a:p>
        </p:txBody>
      </p:sp>
      <p:sp>
        <p:nvSpPr>
          <p:cNvPr id="57" name="Text 55"/>
          <p:cNvSpPr/>
          <p:nvPr/>
        </p:nvSpPr>
        <p:spPr>
          <a:xfrm>
            <a:off x="10012680" y="3200400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0.740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10652760" y="3200400"/>
            <a:ext cx="65836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0.479</a:t>
            </a:r>
            <a:endParaRPr lang="en-US" sz="840" dirty="0"/>
          </a:p>
        </p:txBody>
      </p:sp>
      <p:sp>
        <p:nvSpPr>
          <p:cNvPr id="59" name="Text 57"/>
          <p:cNvSpPr/>
          <p:nvPr/>
        </p:nvSpPr>
        <p:spPr>
          <a:xfrm>
            <a:off x="7077456" y="4315968"/>
            <a:ext cx="4114800" cy="56692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5803D"/>
                </a:solidFill>
              </a:rPr>
              <a:t>Result: the main gain came from choosing a nonlinear ensemble family, not from excessive hyperparameter searching.</a:t>
            </a:r>
            <a:endParaRPr lang="en-US" sz="1420" dirty="0"/>
          </a:p>
        </p:txBody>
      </p:sp>
      <p:sp>
        <p:nvSpPr>
          <p:cNvPr id="60" name="Text 58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08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tuning and feature analysis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Tuning helped modestly; feature analysis revealed direct and contextual signals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53312"/>
            <a:ext cx="91440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Run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1554480" y="1353312"/>
            <a:ext cx="192024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Change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474720" y="1353312"/>
            <a:ext cx="9601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434840" y="1353312"/>
            <a:ext cx="77724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W-F1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5212080" y="1353312"/>
            <a:ext cx="9601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Kappa</a:t>
            </a:r>
            <a:endParaRPr lang="en-US" sz="910" dirty="0"/>
          </a:p>
        </p:txBody>
      </p:sp>
      <p:sp>
        <p:nvSpPr>
          <p:cNvPr id="10" name="Text 8"/>
          <p:cNvSpPr/>
          <p:nvPr/>
        </p:nvSpPr>
        <p:spPr>
          <a:xfrm>
            <a:off x="640080" y="1682496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Baseline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1554480" y="1682496"/>
            <a:ext cx="1920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100 trees, K=0, M=1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3474720" y="1682496"/>
            <a:ext cx="960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60.3242%</a:t>
            </a:r>
            <a:endParaRPr lang="en-US" sz="860" dirty="0"/>
          </a:p>
        </p:txBody>
      </p:sp>
      <p:sp>
        <p:nvSpPr>
          <p:cNvPr id="13" name="Text 11"/>
          <p:cNvSpPr/>
          <p:nvPr/>
        </p:nvSpPr>
        <p:spPr>
          <a:xfrm>
            <a:off x="4434840" y="1682496"/>
            <a:ext cx="777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0.604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5212080" y="1682496"/>
            <a:ext cx="960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0.4855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640080" y="2139696"/>
            <a:ext cx="91440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RF‑T01</a:t>
            </a:r>
            <a:endParaRPr lang="en-US" sz="860" dirty="0"/>
          </a:p>
        </p:txBody>
      </p:sp>
      <p:sp>
        <p:nvSpPr>
          <p:cNvPr id="16" name="Text 14"/>
          <p:cNvSpPr/>
          <p:nvPr/>
        </p:nvSpPr>
        <p:spPr>
          <a:xfrm>
            <a:off x="1554480" y="2139696"/>
            <a:ext cx="19202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250 trees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3474720" y="2139696"/>
            <a:ext cx="96012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60.7509%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4434840" y="2139696"/>
            <a:ext cx="7772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0.608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5212080" y="2139696"/>
            <a:ext cx="96012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0.4901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640080" y="2596896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RF‑T02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1554480" y="2596896"/>
            <a:ext cx="1920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K=2</a:t>
            </a:r>
            <a:endParaRPr lang="en-US" sz="860" dirty="0"/>
          </a:p>
        </p:txBody>
      </p:sp>
      <p:sp>
        <p:nvSpPr>
          <p:cNvPr id="22" name="Text 20"/>
          <p:cNvSpPr/>
          <p:nvPr/>
        </p:nvSpPr>
        <p:spPr>
          <a:xfrm>
            <a:off x="3474720" y="2596896"/>
            <a:ext cx="960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60.6086%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4434840" y="2596896"/>
            <a:ext cx="777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0.605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5212080" y="2596896"/>
            <a:ext cx="960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0.4865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640080" y="3054096"/>
            <a:ext cx="91440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RF‑T03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1554480" y="3054096"/>
            <a:ext cx="19202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M=3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3474720" y="3054096"/>
            <a:ext cx="96012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60.9499%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4434840" y="3054096"/>
            <a:ext cx="7772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0.609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5212080" y="3054096"/>
            <a:ext cx="96012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0.4928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6583680" y="134416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HSCMath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8165592" y="1399032"/>
            <a:ext cx="215594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97312" y="131673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0" b="1" dirty="0">
                <a:solidFill>
                  <a:srgbClr val="0F172A"/>
                </a:solidFill>
              </a:rPr>
              <a:t>0.0818</a:t>
            </a:r>
            <a:endParaRPr lang="en-US" sz="810" dirty="0"/>
          </a:p>
        </p:txBody>
      </p:sp>
      <p:sp>
        <p:nvSpPr>
          <p:cNvPr id="33" name="Text 31"/>
          <p:cNvSpPr/>
          <p:nvPr/>
        </p:nvSpPr>
        <p:spPr>
          <a:xfrm>
            <a:off x="6583680" y="174650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CurrentInstitution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165592" y="1801368"/>
            <a:ext cx="2083988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497312" y="171907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0" b="1" dirty="0">
                <a:solidFill>
                  <a:srgbClr val="0F172A"/>
                </a:solidFill>
              </a:rPr>
              <a:t>0.0791</a:t>
            </a:r>
            <a:endParaRPr lang="en-US" sz="810" dirty="0"/>
          </a:p>
        </p:txBody>
      </p:sp>
      <p:sp>
        <p:nvSpPr>
          <p:cNvPr id="36" name="Text 34"/>
          <p:cNvSpPr/>
          <p:nvPr/>
        </p:nvSpPr>
        <p:spPr>
          <a:xfrm>
            <a:off x="6583680" y="21488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HSCPhysics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165592" y="2203704"/>
            <a:ext cx="1736876" cy="12801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97312" y="212140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0" b="1" dirty="0">
                <a:solidFill>
                  <a:srgbClr val="0F172A"/>
                </a:solidFill>
              </a:rPr>
              <a:t>0.0659</a:t>
            </a:r>
            <a:endParaRPr lang="en-US" sz="810" dirty="0"/>
          </a:p>
        </p:txBody>
      </p:sp>
      <p:sp>
        <p:nvSpPr>
          <p:cNvPr id="39" name="Text 37"/>
          <p:cNvSpPr/>
          <p:nvPr/>
        </p:nvSpPr>
        <p:spPr>
          <a:xfrm>
            <a:off x="6583680" y="255117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HSCChemistry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165592" y="2606040"/>
            <a:ext cx="1621699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497312" y="252374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0" b="1" dirty="0">
                <a:solidFill>
                  <a:srgbClr val="0F172A"/>
                </a:solidFill>
              </a:rPr>
              <a:t>0.0615</a:t>
            </a:r>
            <a:endParaRPr lang="en-US" sz="810" dirty="0"/>
          </a:p>
        </p:txBody>
      </p:sp>
      <p:sp>
        <p:nvSpPr>
          <p:cNvPr id="42" name="Text 40"/>
          <p:cNvSpPr/>
          <p:nvPr/>
        </p:nvSpPr>
        <p:spPr>
          <a:xfrm>
            <a:off x="6583680" y="295351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MotherEducation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8165592" y="3008376"/>
            <a:ext cx="744037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497312" y="29260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0" b="1" dirty="0">
                <a:solidFill>
                  <a:srgbClr val="0F172A"/>
                </a:solidFill>
              </a:rPr>
              <a:t>0.0282</a:t>
            </a:r>
            <a:endParaRPr lang="en-US" sz="810" dirty="0"/>
          </a:p>
        </p:txBody>
      </p:sp>
      <p:sp>
        <p:nvSpPr>
          <p:cNvPr id="45" name="Text 43"/>
          <p:cNvSpPr/>
          <p:nvPr/>
        </p:nvSpPr>
        <p:spPr>
          <a:xfrm>
            <a:off x="6583680" y="335584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CollegeCategory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8165592" y="3410712"/>
            <a:ext cx="580628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497312" y="33284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0" b="1" dirty="0">
                <a:solidFill>
                  <a:srgbClr val="0F172A"/>
                </a:solidFill>
              </a:rPr>
              <a:t>0.0220</a:t>
            </a:r>
            <a:endParaRPr lang="en-US" sz="810" dirty="0"/>
          </a:p>
        </p:txBody>
      </p:sp>
      <p:sp>
        <p:nvSpPr>
          <p:cNvPr id="48" name="Text 46"/>
          <p:cNvSpPr/>
          <p:nvPr/>
        </p:nvSpPr>
        <p:spPr>
          <a:xfrm>
            <a:off x="6583680" y="37581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FatherEducation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165592" y="3813048"/>
            <a:ext cx="556380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497312" y="373075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0" b="1" dirty="0">
                <a:solidFill>
                  <a:srgbClr val="0F172A"/>
                </a:solidFill>
              </a:rPr>
              <a:t>0.0211</a:t>
            </a:r>
            <a:endParaRPr lang="en-US" sz="810" dirty="0"/>
          </a:p>
        </p:txBody>
      </p:sp>
      <p:sp>
        <p:nvSpPr>
          <p:cNvPr id="51" name="Text 49"/>
          <p:cNvSpPr/>
          <p:nvPr/>
        </p:nvSpPr>
        <p:spPr>
          <a:xfrm>
            <a:off x="6583680" y="416052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Faculty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165592" y="4215384"/>
            <a:ext cx="554272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497312" y="41330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0" b="1" dirty="0">
                <a:solidFill>
                  <a:srgbClr val="0F172A"/>
                </a:solidFill>
              </a:rPr>
              <a:t>0.0210</a:t>
            </a:r>
            <a:endParaRPr lang="en-US" sz="810" dirty="0"/>
          </a:p>
        </p:txBody>
      </p:sp>
      <p:sp>
        <p:nvSpPr>
          <p:cNvPr id="54" name="Text 52"/>
          <p:cNvSpPr/>
          <p:nvPr/>
        </p:nvSpPr>
        <p:spPr>
          <a:xfrm>
            <a:off x="749808" y="3913632"/>
            <a:ext cx="5230368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CFS + BestFirst selected exactly: CurrentInstitution, HSCMath, HSCPhysics, HSCChemistry.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6583680" y="4800600"/>
            <a:ext cx="4572000" cy="53035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EA580C"/>
                </a:solidFill>
              </a:rPr>
              <a:t>RandomForest importance also elevated parental education, attendance, preferences, employment-sector and learning-source variables.</a:t>
            </a:r>
            <a:endParaRPr lang="en-US" sz="1280" dirty="0"/>
          </a:p>
        </p:txBody>
      </p:sp>
      <p:sp>
        <p:nvSpPr>
          <p:cNvPr id="56" name="Text 54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09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key experiment: feature selection failed as a reduced model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The attractive four-feature subset did not preserve performance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14173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Metric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148840" y="1417320"/>
            <a:ext cx="155448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Full tuned RF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703320" y="1417320"/>
            <a:ext cx="160020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CFS + tuned RF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5303520" y="1417320"/>
            <a:ext cx="155448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Change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731520" y="1746504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Accuracy</a:t>
            </a:r>
            <a:endParaRPr lang="en-US" sz="910" dirty="0"/>
          </a:p>
        </p:txBody>
      </p:sp>
      <p:sp>
        <p:nvSpPr>
          <p:cNvPr id="10" name="Text 8"/>
          <p:cNvSpPr/>
          <p:nvPr/>
        </p:nvSpPr>
        <p:spPr>
          <a:xfrm>
            <a:off x="2148840" y="1746504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60.9499%</a:t>
            </a:r>
            <a:endParaRPr lang="en-US" sz="910" dirty="0"/>
          </a:p>
        </p:txBody>
      </p:sp>
      <p:sp>
        <p:nvSpPr>
          <p:cNvPr id="11" name="Text 9"/>
          <p:cNvSpPr/>
          <p:nvPr/>
        </p:nvSpPr>
        <p:spPr>
          <a:xfrm>
            <a:off x="3703320" y="1746504"/>
            <a:ext cx="1600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36.6894%</a:t>
            </a:r>
            <a:endParaRPr lang="en-US" sz="910" dirty="0"/>
          </a:p>
        </p:txBody>
      </p:sp>
      <p:sp>
        <p:nvSpPr>
          <p:cNvPr id="12" name="Text 10"/>
          <p:cNvSpPr/>
          <p:nvPr/>
        </p:nvSpPr>
        <p:spPr>
          <a:xfrm>
            <a:off x="5303520" y="1746504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−24.2605 pp</a:t>
            </a:r>
            <a:endParaRPr lang="en-US" sz="910" dirty="0"/>
          </a:p>
        </p:txBody>
      </p:sp>
      <p:sp>
        <p:nvSpPr>
          <p:cNvPr id="13" name="Text 11"/>
          <p:cNvSpPr/>
          <p:nvPr/>
        </p:nvSpPr>
        <p:spPr>
          <a:xfrm>
            <a:off x="731520" y="2276856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Weighted F1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2148840" y="2276856"/>
            <a:ext cx="155448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0.609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3703320" y="2276856"/>
            <a:ext cx="16002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0.351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5303520" y="2276856"/>
            <a:ext cx="155448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−0.258</a:t>
            </a:r>
            <a:endParaRPr lang="en-US" sz="910" dirty="0"/>
          </a:p>
        </p:txBody>
      </p:sp>
      <p:sp>
        <p:nvSpPr>
          <p:cNvPr id="17" name="Text 15"/>
          <p:cNvSpPr/>
          <p:nvPr/>
        </p:nvSpPr>
        <p:spPr>
          <a:xfrm>
            <a:off x="731520" y="2807208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Kappa</a:t>
            </a:r>
            <a:endParaRPr lang="en-US" sz="910" dirty="0"/>
          </a:p>
        </p:txBody>
      </p:sp>
      <p:sp>
        <p:nvSpPr>
          <p:cNvPr id="18" name="Text 16"/>
          <p:cNvSpPr/>
          <p:nvPr/>
        </p:nvSpPr>
        <p:spPr>
          <a:xfrm>
            <a:off x="2148840" y="2807208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0.4928</a:t>
            </a:r>
            <a:endParaRPr lang="en-US" sz="910" dirty="0"/>
          </a:p>
        </p:txBody>
      </p:sp>
      <p:sp>
        <p:nvSpPr>
          <p:cNvPr id="19" name="Text 17"/>
          <p:cNvSpPr/>
          <p:nvPr/>
        </p:nvSpPr>
        <p:spPr>
          <a:xfrm>
            <a:off x="3703320" y="2807208"/>
            <a:ext cx="1600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0.1739</a:t>
            </a:r>
            <a:endParaRPr lang="en-US" sz="910" dirty="0"/>
          </a:p>
        </p:txBody>
      </p:sp>
      <p:sp>
        <p:nvSpPr>
          <p:cNvPr id="20" name="Text 18"/>
          <p:cNvSpPr/>
          <p:nvPr/>
        </p:nvSpPr>
        <p:spPr>
          <a:xfrm>
            <a:off x="5303520" y="2807208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−0.3189</a:t>
            </a:r>
            <a:endParaRPr lang="en-US" sz="910" dirty="0"/>
          </a:p>
        </p:txBody>
      </p:sp>
      <p:sp>
        <p:nvSpPr>
          <p:cNvPr id="21" name="Text 19"/>
          <p:cNvSpPr/>
          <p:nvPr/>
        </p:nvSpPr>
        <p:spPr>
          <a:xfrm>
            <a:off x="731520" y="3337560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ROC-AUC</a:t>
            </a:r>
            <a:endParaRPr lang="en-US" sz="910" dirty="0"/>
          </a:p>
        </p:txBody>
      </p:sp>
      <p:sp>
        <p:nvSpPr>
          <p:cNvPr id="22" name="Text 20"/>
          <p:cNvSpPr/>
          <p:nvPr/>
        </p:nvSpPr>
        <p:spPr>
          <a:xfrm>
            <a:off x="2148840" y="3337560"/>
            <a:ext cx="155448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0.860</a:t>
            </a:r>
            <a:endParaRPr lang="en-US" sz="910" dirty="0"/>
          </a:p>
        </p:txBody>
      </p:sp>
      <p:sp>
        <p:nvSpPr>
          <p:cNvPr id="23" name="Text 21"/>
          <p:cNvSpPr/>
          <p:nvPr/>
        </p:nvSpPr>
        <p:spPr>
          <a:xfrm>
            <a:off x="3703320" y="3337560"/>
            <a:ext cx="16002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0.660</a:t>
            </a:r>
            <a:endParaRPr lang="en-US" sz="910" dirty="0"/>
          </a:p>
        </p:txBody>
      </p:sp>
      <p:sp>
        <p:nvSpPr>
          <p:cNvPr id="24" name="Text 22"/>
          <p:cNvSpPr/>
          <p:nvPr/>
        </p:nvSpPr>
        <p:spPr>
          <a:xfrm>
            <a:off x="5303520" y="3337560"/>
            <a:ext cx="155448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−0.200</a:t>
            </a:r>
            <a:endParaRPr lang="en-US" sz="910" dirty="0"/>
          </a:p>
        </p:txBody>
      </p:sp>
      <p:sp>
        <p:nvSpPr>
          <p:cNvPr id="25" name="Text 23"/>
          <p:cNvSpPr/>
          <p:nvPr/>
        </p:nvSpPr>
        <p:spPr>
          <a:xfrm>
            <a:off x="731520" y="3867912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PRC-AUC</a:t>
            </a:r>
            <a:endParaRPr lang="en-US" sz="910" dirty="0"/>
          </a:p>
        </p:txBody>
      </p:sp>
      <p:sp>
        <p:nvSpPr>
          <p:cNvPr id="26" name="Text 24"/>
          <p:cNvSpPr/>
          <p:nvPr/>
        </p:nvSpPr>
        <p:spPr>
          <a:xfrm>
            <a:off x="2148840" y="3867912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0.723</a:t>
            </a:r>
            <a:endParaRPr lang="en-US" sz="910" dirty="0"/>
          </a:p>
        </p:txBody>
      </p:sp>
      <p:sp>
        <p:nvSpPr>
          <p:cNvPr id="27" name="Text 25"/>
          <p:cNvSpPr/>
          <p:nvPr/>
        </p:nvSpPr>
        <p:spPr>
          <a:xfrm>
            <a:off x="3703320" y="3867912"/>
            <a:ext cx="1600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0.337</a:t>
            </a:r>
            <a:endParaRPr lang="en-US" sz="910" dirty="0"/>
          </a:p>
        </p:txBody>
      </p:sp>
      <p:sp>
        <p:nvSpPr>
          <p:cNvPr id="28" name="Text 26"/>
          <p:cNvSpPr/>
          <p:nvPr/>
        </p:nvSpPr>
        <p:spPr>
          <a:xfrm>
            <a:off x="5303520" y="3867912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dirty="0">
                <a:solidFill>
                  <a:srgbClr val="0F172A"/>
                </a:solidFill>
              </a:rPr>
              <a:t>−0.386</a:t>
            </a:r>
            <a:endParaRPr lang="en-US" sz="910" dirty="0"/>
          </a:p>
        </p:txBody>
      </p:sp>
      <p:sp>
        <p:nvSpPr>
          <p:cNvPr id="29" name="Text 27"/>
          <p:cNvSpPr/>
          <p:nvPr/>
        </p:nvSpPr>
        <p:spPr>
          <a:xfrm>
            <a:off x="7498080" y="15727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Finding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498080" y="193852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</a:rPr>
              <a:t>The four strongest direct features were not enough. Removing weaker contextual variables removed interaction signal that RandomForest could use.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498080" y="3401568"/>
            <a:ext cx="3566160" cy="310896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Best interpretation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525512" y="3886200"/>
            <a:ext cx="3520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0F172A"/>
                </a:solidFill>
              </a:rPr>
              <a:t>Feature selection is a hypothesis to test, not a conclusion to trust automatically. This lesson directly informs the ResearchParticipation phase.</a:t>
            </a:r>
            <a:endParaRPr lang="en-US" sz="1530" dirty="0"/>
          </a:p>
        </p:txBody>
      </p:sp>
      <p:sp>
        <p:nvSpPr>
          <p:cNvPr id="33" name="Text 31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10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final Python model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Locked RandomForest evaluated on held-out Test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98448"/>
            <a:ext cx="14173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Parameter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075688" y="1298448"/>
            <a:ext cx="29718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Locked value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658368" y="1627632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Algorithm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2075688" y="1627632"/>
            <a:ext cx="2971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scikit‑learn RandomForestClassifier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2029968"/>
            <a:ext cx="141732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n_estimators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075688" y="2029968"/>
            <a:ext cx="2971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100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658368" y="2432304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max_features</a:t>
            </a:r>
            <a:endParaRPr lang="en-US" sz="870" dirty="0"/>
          </a:p>
        </p:txBody>
      </p:sp>
      <p:sp>
        <p:nvSpPr>
          <p:cNvPr id="12" name="Text 10"/>
          <p:cNvSpPr/>
          <p:nvPr/>
        </p:nvSpPr>
        <p:spPr>
          <a:xfrm>
            <a:off x="2075688" y="2432304"/>
            <a:ext cx="2971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sqrt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658368" y="2834640"/>
            <a:ext cx="141732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min_samples_leaf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2075688" y="2834640"/>
            <a:ext cx="2971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1</a:t>
            </a:r>
            <a:endParaRPr lang="en-US" sz="870" dirty="0"/>
          </a:p>
        </p:txBody>
      </p:sp>
      <p:sp>
        <p:nvSpPr>
          <p:cNvPr id="15" name="Text 13"/>
          <p:cNvSpPr/>
          <p:nvPr/>
        </p:nvSpPr>
        <p:spPr>
          <a:xfrm>
            <a:off x="658368" y="3236976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random_state</a:t>
            </a:r>
            <a:endParaRPr lang="en-US" sz="870" dirty="0"/>
          </a:p>
        </p:txBody>
      </p:sp>
      <p:sp>
        <p:nvSpPr>
          <p:cNvPr id="16" name="Text 14"/>
          <p:cNvSpPr/>
          <p:nvPr/>
        </p:nvSpPr>
        <p:spPr>
          <a:xfrm>
            <a:off x="2075688" y="3236976"/>
            <a:ext cx="2971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1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658368" y="3639312"/>
            <a:ext cx="141732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Final fit data</a:t>
            </a:r>
            <a:endParaRPr lang="en-US" sz="870" dirty="0"/>
          </a:p>
        </p:txBody>
      </p:sp>
      <p:sp>
        <p:nvSpPr>
          <p:cNvPr id="18" name="Text 16"/>
          <p:cNvSpPr/>
          <p:nvPr/>
        </p:nvSpPr>
        <p:spPr>
          <a:xfrm>
            <a:off x="2075688" y="3639312"/>
            <a:ext cx="2971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Train + Validation = 2,988 rows</a:t>
            </a:r>
            <a:endParaRPr lang="en-US" sz="870" dirty="0"/>
          </a:p>
        </p:txBody>
      </p:sp>
      <p:sp>
        <p:nvSpPr>
          <p:cNvPr id="19" name="Text 17"/>
          <p:cNvSpPr/>
          <p:nvPr/>
        </p:nvSpPr>
        <p:spPr>
          <a:xfrm>
            <a:off x="658368" y="4041648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Final Test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2075688" y="4041648"/>
            <a:ext cx="2971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0F172A"/>
                </a:solidFill>
              </a:rPr>
              <a:t>528 rows</a:t>
            </a:r>
            <a:endParaRPr lang="en-US" sz="870" dirty="0"/>
          </a:p>
        </p:txBody>
      </p:sp>
      <p:sp>
        <p:nvSpPr>
          <p:cNvPr id="21" name="Shape 19"/>
          <p:cNvSpPr/>
          <p:nvPr/>
        </p:nvSpPr>
        <p:spPr>
          <a:xfrm>
            <a:off x="5623560" y="2536386"/>
            <a:ext cx="701040" cy="139553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0" y="2225490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</a:rPr>
              <a:t>59.85%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57784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Accuracy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6598920" y="2485787"/>
            <a:ext cx="701040" cy="144613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53200" y="2174891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</a:rPr>
              <a:t>62.02%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5320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Weighted Precision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7574280" y="2536619"/>
            <a:ext cx="701040" cy="1395301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28560" y="2225723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</a:rPr>
              <a:t>0.598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52856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Weighted F1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8549640" y="2525193"/>
            <a:ext cx="701040" cy="140672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0" y="2214297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</a:rPr>
              <a:t>0.603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50392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Macro F1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9525000" y="1921977"/>
            <a:ext cx="701040" cy="2009943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79280" y="1611081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</a:rPr>
              <a:t>0.862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47928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ROC-AUC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10500360" y="2264740"/>
            <a:ext cx="701040" cy="16671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54640" y="1953844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</a:rPr>
              <a:t>0.715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045464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PRC-AUC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5669280" y="4663440"/>
            <a:ext cx="5349240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2355B"/>
                </a:solidFill>
              </a:rPr>
              <a:t>Final sentence: 59.85% accuracy, 0.598 weighted F1, 0.481 Cohen’s Kappa, ~0.862 weighted ROC-AUC, and ~0.715 weighted PRC-AUC.</a:t>
            </a:r>
            <a:endParaRPr lang="en-US" sz="1420" dirty="0"/>
          </a:p>
        </p:txBody>
      </p:sp>
      <p:sp>
        <p:nvSpPr>
          <p:cNvPr id="40" name="Text 38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11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confusion matrix and conclusion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Most errors occur between neighboring CGPA bands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25880"/>
            <a:ext cx="1287475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</a:rPr>
              <a:t>Actual / Predicted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181782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</a:rPr>
              <a:t>3.00–3.25</a:t>
            </a:r>
            <a:endParaRPr lang="en-US" sz="710" dirty="0"/>
          </a:p>
        </p:txBody>
      </p:sp>
      <p:sp>
        <p:nvSpPr>
          <p:cNvPr id="7" name="Text 5"/>
          <p:cNvSpPr/>
          <p:nvPr/>
        </p:nvSpPr>
        <p:spPr>
          <a:xfrm>
            <a:off x="282366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</a:rPr>
              <a:t>3.25–3.50</a:t>
            </a:r>
            <a:endParaRPr lang="en-US" sz="710" dirty="0"/>
          </a:p>
        </p:txBody>
      </p:sp>
      <p:sp>
        <p:nvSpPr>
          <p:cNvPr id="8" name="Text 6"/>
          <p:cNvSpPr/>
          <p:nvPr/>
        </p:nvSpPr>
        <p:spPr>
          <a:xfrm>
            <a:off x="382950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</a:rPr>
              <a:t>3.50–3.75</a:t>
            </a:r>
            <a:endParaRPr lang="en-US" sz="710" dirty="0"/>
          </a:p>
        </p:txBody>
      </p:sp>
      <p:sp>
        <p:nvSpPr>
          <p:cNvPr id="9" name="Text 7"/>
          <p:cNvSpPr/>
          <p:nvPr/>
        </p:nvSpPr>
        <p:spPr>
          <a:xfrm>
            <a:off x="483534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</a:rPr>
              <a:t>&gt;3.75</a:t>
            </a:r>
            <a:endParaRPr lang="en-US" sz="710" dirty="0"/>
          </a:p>
        </p:txBody>
      </p:sp>
      <p:sp>
        <p:nvSpPr>
          <p:cNvPr id="10" name="Text 8"/>
          <p:cNvSpPr/>
          <p:nvPr/>
        </p:nvSpPr>
        <p:spPr>
          <a:xfrm>
            <a:off x="584118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</a:rPr>
              <a:t>&lt;3.00</a:t>
            </a:r>
            <a:endParaRPr lang="en-US" sz="710" dirty="0"/>
          </a:p>
        </p:txBody>
      </p:sp>
      <p:sp>
        <p:nvSpPr>
          <p:cNvPr id="11" name="Text 9"/>
          <p:cNvSpPr/>
          <p:nvPr/>
        </p:nvSpPr>
        <p:spPr>
          <a:xfrm>
            <a:off x="530352" y="182880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F172A"/>
                </a:solidFill>
              </a:rPr>
              <a:t>3.00–3.25</a:t>
            </a:r>
            <a:endParaRPr lang="en-US" sz="710" dirty="0"/>
          </a:p>
        </p:txBody>
      </p:sp>
      <p:sp>
        <p:nvSpPr>
          <p:cNvPr id="12" name="Text 10"/>
          <p:cNvSpPr/>
          <p:nvPr/>
        </p:nvSpPr>
        <p:spPr>
          <a:xfrm>
            <a:off x="1817827" y="1828800"/>
            <a:ext cx="1005840" cy="502920"/>
          </a:xfrm>
          <a:prstGeom prst="rect">
            <a:avLst/>
          </a:prstGeom>
          <a:solidFill>
            <a:srgbClr val="93C5F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40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823667" y="1828800"/>
            <a:ext cx="1005840" cy="502920"/>
          </a:xfrm>
          <a:prstGeom prst="rect">
            <a:avLst/>
          </a:prstGeom>
          <a:solidFill>
            <a:srgbClr val="93C5F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41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29507" y="182880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12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35347" y="182880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41187" y="182880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2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30352" y="233172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F172A"/>
                </a:solidFill>
              </a:rPr>
              <a:t>3.25–3.50</a:t>
            </a:r>
            <a:endParaRPr lang="en-US" sz="710" dirty="0"/>
          </a:p>
        </p:txBody>
      </p:sp>
      <p:sp>
        <p:nvSpPr>
          <p:cNvPr id="18" name="Text 16"/>
          <p:cNvSpPr/>
          <p:nvPr/>
        </p:nvSpPr>
        <p:spPr>
          <a:xfrm>
            <a:off x="1817827" y="2331720"/>
            <a:ext cx="1005840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19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823667" y="2331720"/>
            <a:ext cx="1005840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29507" y="2331720"/>
            <a:ext cx="1005840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21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35347" y="233172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5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41187" y="233172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30352" y="283464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F172A"/>
                </a:solidFill>
              </a:rPr>
              <a:t>3.50–3.75</a:t>
            </a:r>
            <a:endParaRPr lang="en-US" sz="710" dirty="0"/>
          </a:p>
        </p:txBody>
      </p:sp>
      <p:sp>
        <p:nvSpPr>
          <p:cNvPr id="24" name="Text 22"/>
          <p:cNvSpPr/>
          <p:nvPr/>
        </p:nvSpPr>
        <p:spPr>
          <a:xfrm>
            <a:off x="1817827" y="283464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8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823667" y="2834640"/>
            <a:ext cx="1005840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31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829507" y="2834640"/>
            <a:ext cx="1005840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78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35347" y="283464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41187" y="283464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1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30352" y="333756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F172A"/>
                </a:solidFill>
              </a:rPr>
              <a:t>&gt;3.75</a:t>
            </a:r>
            <a:endParaRPr lang="en-US" sz="710" dirty="0"/>
          </a:p>
        </p:txBody>
      </p:sp>
      <p:sp>
        <p:nvSpPr>
          <p:cNvPr id="30" name="Text 28"/>
          <p:cNvSpPr/>
          <p:nvPr/>
        </p:nvSpPr>
        <p:spPr>
          <a:xfrm>
            <a:off x="1817827" y="333756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823667" y="333756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9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829507" y="333756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14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35347" y="3337560"/>
            <a:ext cx="1005840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41187" y="333756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2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30352" y="384048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F172A"/>
                </a:solidFill>
              </a:rPr>
              <a:t>&lt;3.00</a:t>
            </a:r>
            <a:endParaRPr lang="en-US" sz="710" dirty="0"/>
          </a:p>
        </p:txBody>
      </p:sp>
      <p:sp>
        <p:nvSpPr>
          <p:cNvPr id="36" name="Text 34"/>
          <p:cNvSpPr/>
          <p:nvPr/>
        </p:nvSpPr>
        <p:spPr>
          <a:xfrm>
            <a:off x="1817827" y="384048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8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823667" y="384048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17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829507" y="384048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6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835347" y="384048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4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41187" y="3840480"/>
            <a:ext cx="1005840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35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406640" y="1463040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334155"/>
                </a:solidFill>
              </a:rPr>
              <a:t>• RandomForest was the strongest model family in broad WEKA benchmarking.</a:t>
            </a:r>
            <a:endParaRPr lang="en-US" sz="1320" dirty="0"/>
          </a:p>
        </p:txBody>
      </p:sp>
      <p:sp>
        <p:nvSpPr>
          <p:cNvPr id="42" name="Text 40"/>
          <p:cNvSpPr/>
          <p:nvPr/>
        </p:nvSpPr>
        <p:spPr>
          <a:xfrm>
            <a:off x="7406640" y="2039112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334155"/>
                </a:solidFill>
              </a:rPr>
              <a:t>• Hyperparameter tuning improved development accuracy only modestly.</a:t>
            </a:r>
            <a:endParaRPr lang="en-US" sz="1320" dirty="0"/>
          </a:p>
        </p:txBody>
      </p:sp>
      <p:sp>
        <p:nvSpPr>
          <p:cNvPr id="43" name="Text 41"/>
          <p:cNvSpPr/>
          <p:nvPr/>
        </p:nvSpPr>
        <p:spPr>
          <a:xfrm>
            <a:off x="7406640" y="261518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334155"/>
                </a:solidFill>
              </a:rPr>
              <a:t>• Aggressive four-feature reduction harmed performance severely.</a:t>
            </a:r>
            <a:endParaRPr lang="en-US" sz="1320" dirty="0"/>
          </a:p>
        </p:txBody>
      </p:sp>
      <p:sp>
        <p:nvSpPr>
          <p:cNvPr id="44" name="Text 42"/>
          <p:cNvSpPr/>
          <p:nvPr/>
        </p:nvSpPr>
        <p:spPr>
          <a:xfrm>
            <a:off x="7406640" y="3191256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334155"/>
                </a:solidFill>
              </a:rPr>
              <a:t>• The final reproducible Python pipeline reached 59.85% Test accuracy.</a:t>
            </a:r>
            <a:endParaRPr lang="en-US" sz="1320" dirty="0"/>
          </a:p>
        </p:txBody>
      </p:sp>
      <p:sp>
        <p:nvSpPr>
          <p:cNvPr id="45" name="Text 43"/>
          <p:cNvSpPr/>
          <p:nvPr/>
        </p:nvSpPr>
        <p:spPr>
          <a:xfrm>
            <a:off x="7406640" y="3767328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334155"/>
                </a:solidFill>
              </a:rPr>
              <a:t>• Limitation: ordinal CGPA bands were modeled as nominal classes.</a:t>
            </a:r>
            <a:endParaRPr lang="en-US" sz="1320" dirty="0"/>
          </a:p>
        </p:txBody>
      </p:sp>
      <p:sp>
        <p:nvSpPr>
          <p:cNvPr id="46" name="Text 44"/>
          <p:cNvSpPr/>
          <p:nvPr/>
        </p:nvSpPr>
        <p:spPr>
          <a:xfrm>
            <a:off x="7452360" y="4983480"/>
            <a:ext cx="352044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Strongest per-class Test F1: &gt;3.75 ≈ 0.738. Hardest band: 3.00–3.25 ≈ 0.457.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12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target: ResearchParticipation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Binary classification: Participated vs NotParticipated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996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NotParticipated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96312" y="1554480"/>
            <a:ext cx="269748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85232" y="147218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0F172A"/>
                </a:solidFill>
              </a:rPr>
              <a:t>2,239 (64.43%)</a:t>
            </a:r>
            <a:endParaRPr lang="en-US" sz="980" dirty="0"/>
          </a:p>
        </p:txBody>
      </p:sp>
      <p:sp>
        <p:nvSpPr>
          <p:cNvPr id="8" name="Text 6"/>
          <p:cNvSpPr/>
          <p:nvPr/>
        </p:nvSpPr>
        <p:spPr>
          <a:xfrm>
            <a:off x="731520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Participated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96312" y="2267712"/>
            <a:ext cx="1489096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85232" y="21854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0F172A"/>
                </a:solidFill>
              </a:rPr>
              <a:t>1,236 (35.57%)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492240" y="1335024"/>
            <a:ext cx="18288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Audit stage</a:t>
            </a:r>
            <a:endParaRPr lang="en-US" sz="910" dirty="0"/>
          </a:p>
        </p:txBody>
      </p:sp>
      <p:sp>
        <p:nvSpPr>
          <p:cNvPr id="12" name="Text 10"/>
          <p:cNvSpPr/>
          <p:nvPr/>
        </p:nvSpPr>
        <p:spPr>
          <a:xfrm>
            <a:off x="8321040" y="1335024"/>
            <a:ext cx="7315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Rows</a:t>
            </a:r>
            <a:endParaRPr lang="en-US" sz="910" dirty="0"/>
          </a:p>
        </p:txBody>
      </p:sp>
      <p:sp>
        <p:nvSpPr>
          <p:cNvPr id="13" name="Text 11"/>
          <p:cNvSpPr/>
          <p:nvPr/>
        </p:nvSpPr>
        <p:spPr>
          <a:xfrm>
            <a:off x="9052560" y="1335024"/>
            <a:ext cx="22402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Result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6492240" y="1664208"/>
            <a:ext cx="18288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Raw dataset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8321040" y="1664208"/>
            <a:ext cx="731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3,516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9052560" y="1664208"/>
            <a:ext cx="22402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32 original columns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6492240" y="2167128"/>
            <a:ext cx="18288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Missing target removed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8321040" y="2167128"/>
            <a:ext cx="73152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37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9052560" y="2167128"/>
            <a:ext cx="224028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Excluded before modeling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6492240" y="2670048"/>
            <a:ext cx="18288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Exact duplicates removed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8321040" y="2670048"/>
            <a:ext cx="731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4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9052560" y="2670048"/>
            <a:ext cx="22402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Duplicate rows removed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6492240" y="3172968"/>
            <a:ext cx="18288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Final binary dataset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8321040" y="3172968"/>
            <a:ext cx="73152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3,475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9052560" y="3172968"/>
            <a:ext cx="224028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24 predictors + binary target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822960" y="4005072"/>
            <a:ext cx="489204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</a:rPr>
              <a:t>Primary metric was frozen before selection: F1 for the minority/positive Participated class.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37960" y="434340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0F172A"/>
                </a:solidFill>
              </a:rPr>
              <a:t>Why this matters: a majority-class model can get 64.43% accuracy while detecting zero participants. Therefore accuracy alone is misleading.</a:t>
            </a:r>
            <a:endParaRPr lang="en-US" sz="1520" dirty="0"/>
          </a:p>
        </p:txBody>
      </p:sp>
      <p:sp>
        <p:nvSpPr>
          <p:cNvPr id="28" name="Text 26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13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split and model-selection rule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Prospective Test governance was stronger than Phase 1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146304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Split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240280" y="1417320"/>
            <a:ext cx="12801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Instances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520440" y="1417320"/>
            <a:ext cx="14173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NotParticipated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14173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Participated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777240" y="1746504"/>
            <a:ext cx="1463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Train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2240280" y="1746504"/>
            <a:ext cx="1280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2,432</a:t>
            </a:r>
            <a:endParaRPr lang="en-US" sz="920" dirty="0"/>
          </a:p>
        </p:txBody>
      </p:sp>
      <p:sp>
        <p:nvSpPr>
          <p:cNvPr id="11" name="Text 9"/>
          <p:cNvSpPr/>
          <p:nvPr/>
        </p:nvSpPr>
        <p:spPr>
          <a:xfrm>
            <a:off x="3520440" y="1746504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1,567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4937760" y="1746504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865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777240" y="2276856"/>
            <a:ext cx="146304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Validation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2240280" y="2276856"/>
            <a:ext cx="12801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521</a:t>
            </a: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3520440" y="2276856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336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4937760" y="2276856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185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777240" y="2807208"/>
            <a:ext cx="1463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Test - locked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2240280" y="2807208"/>
            <a:ext cx="1280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522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3520440" y="2807208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336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4937760" y="2807208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186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777240" y="3337560"/>
            <a:ext cx="146304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Total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2240280" y="3337560"/>
            <a:ext cx="12801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3,475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3520440" y="3337560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2,239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4937760" y="3337560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0F172A"/>
                </a:solidFill>
              </a:rPr>
              <a:t>1,236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6903720" y="1536192"/>
            <a:ext cx="33832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Broad benchmark protocol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03720" y="20574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334155"/>
                </a:solidFill>
              </a:rPr>
              <a:t>• Use Train split with stratified 10-fold CV for broad WEKA benchmarking.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6903720" y="26974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334155"/>
                </a:solidFill>
              </a:rPr>
              <a:t>• Rank candidates by Participated-class F1, not raw accuracy.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6903720" y="33375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334155"/>
                </a:solidFill>
              </a:rPr>
              <a:t>• Use Validation for screening and limited RandomForest tuning.</a:t>
            </a:r>
            <a:endParaRPr lang="en-US" sz="1320" dirty="0"/>
          </a:p>
        </p:txBody>
      </p:sp>
      <p:sp>
        <p:nvSpPr>
          <p:cNvPr id="29" name="Text 27"/>
          <p:cNvSpPr/>
          <p:nvPr/>
        </p:nvSpPr>
        <p:spPr>
          <a:xfrm>
            <a:off x="6903720" y="397764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334155"/>
                </a:solidFill>
              </a:rPr>
              <a:t>• Evaluate the locked 522-row Test set only after the model is frozen.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6903720" y="4983480"/>
            <a:ext cx="3520440" cy="47548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DC2626"/>
                </a:solidFill>
              </a:rPr>
              <a:t>Scientific rule: a high score is not a reason to keep suspicious predictors or retune against Test.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14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broad WEKA benchmark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28 substantive models completed; RandomForest default was the leader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167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</a:rPr>
              <a:t>RandomForest default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2468880" y="1371600"/>
            <a:ext cx="2881745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0" y="128930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0.650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658368" y="1737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</a:rPr>
              <a:t>LMT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2468880" y="1792224"/>
            <a:ext cx="2793076" cy="12801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7099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0.630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658368" y="215798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</a:rPr>
              <a:t>RandomCommittee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468880" y="2212848"/>
            <a:ext cx="2766476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0" y="213055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0.624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658368" y="25786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</a:rPr>
              <a:t>MLP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468880" y="2633472"/>
            <a:ext cx="2757609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55117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0.622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658368" y="29992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</a:rPr>
              <a:t>RandomTree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2468880" y="3054096"/>
            <a:ext cx="2726575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0" y="29718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0.615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658368" y="341985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</a:rPr>
              <a:t>KStar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2468880" y="3474720"/>
            <a:ext cx="2660073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339242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0.600</a:t>
            </a:r>
            <a:endParaRPr lang="en-US" sz="870" dirty="0"/>
          </a:p>
        </p:txBody>
      </p:sp>
      <p:sp>
        <p:nvSpPr>
          <p:cNvPr id="23" name="Text 21"/>
          <p:cNvSpPr/>
          <p:nvPr/>
        </p:nvSpPr>
        <p:spPr>
          <a:xfrm>
            <a:off x="658368" y="38404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</a:rPr>
              <a:t>IBk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2468880" y="3895344"/>
            <a:ext cx="2651206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0" y="381304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0.598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658368" y="42611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</a:rPr>
              <a:t>Bagging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468880" y="4315968"/>
            <a:ext cx="2433967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423367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F172A"/>
                </a:solidFill>
              </a:rPr>
              <a:t>0.549</a:t>
            </a:r>
            <a:endParaRPr lang="en-US" sz="870" dirty="0"/>
          </a:p>
        </p:txBody>
      </p:sp>
      <p:sp>
        <p:nvSpPr>
          <p:cNvPr id="29" name="Text 27"/>
          <p:cNvSpPr/>
          <p:nvPr/>
        </p:nvSpPr>
        <p:spPr>
          <a:xfrm>
            <a:off x="6446520" y="1298448"/>
            <a:ext cx="14173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Model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7863840" y="1298448"/>
            <a:ext cx="7772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31" name="Text 29"/>
          <p:cNvSpPr/>
          <p:nvPr/>
        </p:nvSpPr>
        <p:spPr>
          <a:xfrm>
            <a:off x="864108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P</a:t>
            </a:r>
            <a:endParaRPr lang="en-US" sz="910" dirty="0"/>
          </a:p>
        </p:txBody>
      </p:sp>
      <p:sp>
        <p:nvSpPr>
          <p:cNvPr id="32" name="Text 30"/>
          <p:cNvSpPr/>
          <p:nvPr/>
        </p:nvSpPr>
        <p:spPr>
          <a:xfrm>
            <a:off x="914400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</a:t>
            </a:r>
            <a:endParaRPr lang="en-US" sz="910" dirty="0"/>
          </a:p>
        </p:txBody>
      </p:sp>
      <p:sp>
        <p:nvSpPr>
          <p:cNvPr id="33" name="Text 31"/>
          <p:cNvSpPr/>
          <p:nvPr/>
        </p:nvSpPr>
        <p:spPr>
          <a:xfrm>
            <a:off x="964692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F1</a:t>
            </a:r>
            <a:endParaRPr lang="en-US" sz="910" dirty="0"/>
          </a:p>
        </p:txBody>
      </p:sp>
      <p:sp>
        <p:nvSpPr>
          <p:cNvPr id="34" name="Text 32"/>
          <p:cNvSpPr/>
          <p:nvPr/>
        </p:nvSpPr>
        <p:spPr>
          <a:xfrm>
            <a:off x="1014984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ROC</a:t>
            </a:r>
            <a:endParaRPr lang="en-US" sz="910" dirty="0"/>
          </a:p>
        </p:txBody>
      </p:sp>
      <p:sp>
        <p:nvSpPr>
          <p:cNvPr id="35" name="Text 33"/>
          <p:cNvSpPr/>
          <p:nvPr/>
        </p:nvSpPr>
        <p:spPr>
          <a:xfrm>
            <a:off x="1065276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PRC</a:t>
            </a:r>
            <a:endParaRPr lang="en-US" sz="910" dirty="0"/>
          </a:p>
        </p:txBody>
      </p:sp>
      <p:sp>
        <p:nvSpPr>
          <p:cNvPr id="36" name="Text 34"/>
          <p:cNvSpPr/>
          <p:nvPr/>
        </p:nvSpPr>
        <p:spPr>
          <a:xfrm>
            <a:off x="6446520" y="1627632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RandomForest</a:t>
            </a:r>
            <a:endParaRPr lang="en-US" sz="810" dirty="0"/>
          </a:p>
        </p:txBody>
      </p:sp>
      <p:sp>
        <p:nvSpPr>
          <p:cNvPr id="37" name="Text 35"/>
          <p:cNvSpPr/>
          <p:nvPr/>
        </p:nvSpPr>
        <p:spPr>
          <a:xfrm>
            <a:off x="7863840" y="1627632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79.11%</a:t>
            </a:r>
            <a:endParaRPr lang="en-US" sz="810" dirty="0"/>
          </a:p>
        </p:txBody>
      </p:sp>
      <p:sp>
        <p:nvSpPr>
          <p:cNvPr id="38" name="Text 36"/>
          <p:cNvSpPr/>
          <p:nvPr/>
        </p:nvSpPr>
        <p:spPr>
          <a:xfrm>
            <a:off x="864108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.805</a:t>
            </a:r>
            <a:endParaRPr lang="en-US" sz="810" dirty="0"/>
          </a:p>
        </p:txBody>
      </p:sp>
      <p:sp>
        <p:nvSpPr>
          <p:cNvPr id="39" name="Text 37"/>
          <p:cNvSpPr/>
          <p:nvPr/>
        </p:nvSpPr>
        <p:spPr>
          <a:xfrm>
            <a:off x="914400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.545</a:t>
            </a:r>
            <a:endParaRPr lang="en-US" sz="810" dirty="0"/>
          </a:p>
        </p:txBody>
      </p:sp>
      <p:sp>
        <p:nvSpPr>
          <p:cNvPr id="40" name="Text 38"/>
          <p:cNvSpPr/>
          <p:nvPr/>
        </p:nvSpPr>
        <p:spPr>
          <a:xfrm>
            <a:off x="964692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.650</a:t>
            </a:r>
            <a:endParaRPr lang="en-US" sz="810" dirty="0"/>
          </a:p>
        </p:txBody>
      </p:sp>
      <p:sp>
        <p:nvSpPr>
          <p:cNvPr id="41" name="Text 39"/>
          <p:cNvSpPr/>
          <p:nvPr/>
        </p:nvSpPr>
        <p:spPr>
          <a:xfrm>
            <a:off x="1014984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.849</a:t>
            </a:r>
            <a:endParaRPr lang="en-US" sz="810" dirty="0"/>
          </a:p>
        </p:txBody>
      </p:sp>
      <p:sp>
        <p:nvSpPr>
          <p:cNvPr id="42" name="Text 40"/>
          <p:cNvSpPr/>
          <p:nvPr/>
        </p:nvSpPr>
        <p:spPr>
          <a:xfrm>
            <a:off x="1065276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.803</a:t>
            </a:r>
            <a:endParaRPr lang="en-US" sz="810" dirty="0"/>
          </a:p>
        </p:txBody>
      </p:sp>
      <p:sp>
        <p:nvSpPr>
          <p:cNvPr id="43" name="Text 41"/>
          <p:cNvSpPr/>
          <p:nvPr/>
        </p:nvSpPr>
        <p:spPr>
          <a:xfrm>
            <a:off x="6446520" y="2020824"/>
            <a:ext cx="14173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LMT</a:t>
            </a:r>
            <a:endParaRPr lang="en-US" sz="810" dirty="0"/>
          </a:p>
        </p:txBody>
      </p:sp>
      <p:sp>
        <p:nvSpPr>
          <p:cNvPr id="44" name="Text 42"/>
          <p:cNvSpPr/>
          <p:nvPr/>
        </p:nvSpPr>
        <p:spPr>
          <a:xfrm>
            <a:off x="7863840" y="2020824"/>
            <a:ext cx="77724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74.26%</a:t>
            </a:r>
            <a:endParaRPr lang="en-US" sz="810" dirty="0"/>
          </a:p>
        </p:txBody>
      </p:sp>
      <p:sp>
        <p:nvSpPr>
          <p:cNvPr id="45" name="Text 43"/>
          <p:cNvSpPr/>
          <p:nvPr/>
        </p:nvSpPr>
        <p:spPr>
          <a:xfrm>
            <a:off x="864108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.644</a:t>
            </a:r>
            <a:endParaRPr lang="en-US" sz="810" dirty="0"/>
          </a:p>
        </p:txBody>
      </p:sp>
      <p:sp>
        <p:nvSpPr>
          <p:cNvPr id="46" name="Text 44"/>
          <p:cNvSpPr/>
          <p:nvPr/>
        </p:nvSpPr>
        <p:spPr>
          <a:xfrm>
            <a:off x="914400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.616</a:t>
            </a:r>
            <a:endParaRPr lang="en-US" sz="810" dirty="0"/>
          </a:p>
        </p:txBody>
      </p:sp>
      <p:sp>
        <p:nvSpPr>
          <p:cNvPr id="47" name="Text 45"/>
          <p:cNvSpPr/>
          <p:nvPr/>
        </p:nvSpPr>
        <p:spPr>
          <a:xfrm>
            <a:off x="964692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.630</a:t>
            </a:r>
            <a:endParaRPr lang="en-US" sz="810" dirty="0"/>
          </a:p>
        </p:txBody>
      </p:sp>
      <p:sp>
        <p:nvSpPr>
          <p:cNvPr id="48" name="Text 46"/>
          <p:cNvSpPr/>
          <p:nvPr/>
        </p:nvSpPr>
        <p:spPr>
          <a:xfrm>
            <a:off x="1014984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.743</a:t>
            </a:r>
            <a:endParaRPr lang="en-US" sz="810" dirty="0"/>
          </a:p>
        </p:txBody>
      </p:sp>
      <p:sp>
        <p:nvSpPr>
          <p:cNvPr id="49" name="Text 47"/>
          <p:cNvSpPr/>
          <p:nvPr/>
        </p:nvSpPr>
        <p:spPr>
          <a:xfrm>
            <a:off x="1065276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.610</a:t>
            </a:r>
            <a:endParaRPr lang="en-US" sz="810" dirty="0"/>
          </a:p>
        </p:txBody>
      </p:sp>
      <p:sp>
        <p:nvSpPr>
          <p:cNvPr id="50" name="Text 48"/>
          <p:cNvSpPr/>
          <p:nvPr/>
        </p:nvSpPr>
        <p:spPr>
          <a:xfrm>
            <a:off x="6446520" y="2414016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RandomCommittee</a:t>
            </a:r>
            <a:endParaRPr lang="en-US" sz="810" dirty="0"/>
          </a:p>
        </p:txBody>
      </p:sp>
      <p:sp>
        <p:nvSpPr>
          <p:cNvPr id="51" name="Text 49"/>
          <p:cNvSpPr/>
          <p:nvPr/>
        </p:nvSpPr>
        <p:spPr>
          <a:xfrm>
            <a:off x="7863840" y="2414016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76.27%</a:t>
            </a:r>
            <a:endParaRPr lang="en-US" sz="810" dirty="0"/>
          </a:p>
        </p:txBody>
      </p:sp>
      <p:sp>
        <p:nvSpPr>
          <p:cNvPr id="52" name="Text 50"/>
          <p:cNvSpPr/>
          <p:nvPr/>
        </p:nvSpPr>
        <p:spPr>
          <a:xfrm>
            <a:off x="864108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.716</a:t>
            </a:r>
            <a:endParaRPr lang="en-US" sz="810" dirty="0"/>
          </a:p>
        </p:txBody>
      </p:sp>
      <p:sp>
        <p:nvSpPr>
          <p:cNvPr id="53" name="Text 51"/>
          <p:cNvSpPr/>
          <p:nvPr/>
        </p:nvSpPr>
        <p:spPr>
          <a:xfrm>
            <a:off x="914400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.553</a:t>
            </a:r>
            <a:endParaRPr lang="en-US" sz="810" dirty="0"/>
          </a:p>
        </p:txBody>
      </p:sp>
      <p:sp>
        <p:nvSpPr>
          <p:cNvPr id="54" name="Text 52"/>
          <p:cNvSpPr/>
          <p:nvPr/>
        </p:nvSpPr>
        <p:spPr>
          <a:xfrm>
            <a:off x="964692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.624</a:t>
            </a:r>
            <a:endParaRPr lang="en-US" sz="810" dirty="0"/>
          </a:p>
        </p:txBody>
      </p:sp>
      <p:sp>
        <p:nvSpPr>
          <p:cNvPr id="55" name="Text 53"/>
          <p:cNvSpPr/>
          <p:nvPr/>
        </p:nvSpPr>
        <p:spPr>
          <a:xfrm>
            <a:off x="1014984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.826</a:t>
            </a:r>
            <a:endParaRPr lang="en-US" sz="810" dirty="0"/>
          </a:p>
        </p:txBody>
      </p:sp>
      <p:sp>
        <p:nvSpPr>
          <p:cNvPr id="56" name="Text 54"/>
          <p:cNvSpPr/>
          <p:nvPr/>
        </p:nvSpPr>
        <p:spPr>
          <a:xfrm>
            <a:off x="1065276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.771</a:t>
            </a:r>
            <a:endParaRPr lang="en-US" sz="810" dirty="0"/>
          </a:p>
        </p:txBody>
      </p:sp>
      <p:sp>
        <p:nvSpPr>
          <p:cNvPr id="57" name="Text 55"/>
          <p:cNvSpPr/>
          <p:nvPr/>
        </p:nvSpPr>
        <p:spPr>
          <a:xfrm>
            <a:off x="6446520" y="2807208"/>
            <a:ext cx="14173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MLP</a:t>
            </a:r>
            <a:endParaRPr lang="en-US" sz="810" dirty="0"/>
          </a:p>
        </p:txBody>
      </p:sp>
      <p:sp>
        <p:nvSpPr>
          <p:cNvPr id="58" name="Text 56"/>
          <p:cNvSpPr/>
          <p:nvPr/>
        </p:nvSpPr>
        <p:spPr>
          <a:xfrm>
            <a:off x="7863840" y="2807208"/>
            <a:ext cx="77724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74.05%</a:t>
            </a:r>
            <a:endParaRPr lang="en-US" sz="810" dirty="0"/>
          </a:p>
        </p:txBody>
      </p:sp>
      <p:sp>
        <p:nvSpPr>
          <p:cNvPr id="59" name="Text 57"/>
          <p:cNvSpPr/>
          <p:nvPr/>
        </p:nvSpPr>
        <p:spPr>
          <a:xfrm>
            <a:off x="864108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.646</a:t>
            </a:r>
            <a:endParaRPr lang="en-US" sz="810" dirty="0"/>
          </a:p>
        </p:txBody>
      </p:sp>
      <p:sp>
        <p:nvSpPr>
          <p:cNvPr id="60" name="Text 58"/>
          <p:cNvSpPr/>
          <p:nvPr/>
        </p:nvSpPr>
        <p:spPr>
          <a:xfrm>
            <a:off x="914400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.600</a:t>
            </a:r>
            <a:endParaRPr lang="en-US" sz="810" dirty="0"/>
          </a:p>
        </p:txBody>
      </p:sp>
      <p:sp>
        <p:nvSpPr>
          <p:cNvPr id="61" name="Text 59"/>
          <p:cNvSpPr/>
          <p:nvPr/>
        </p:nvSpPr>
        <p:spPr>
          <a:xfrm>
            <a:off x="964692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.622</a:t>
            </a:r>
            <a:endParaRPr lang="en-US" sz="810" dirty="0"/>
          </a:p>
        </p:txBody>
      </p:sp>
      <p:sp>
        <p:nvSpPr>
          <p:cNvPr id="62" name="Text 60"/>
          <p:cNvSpPr/>
          <p:nvPr/>
        </p:nvSpPr>
        <p:spPr>
          <a:xfrm>
            <a:off x="1014984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.748</a:t>
            </a:r>
            <a:endParaRPr lang="en-US" sz="810" dirty="0"/>
          </a:p>
        </p:txBody>
      </p:sp>
      <p:sp>
        <p:nvSpPr>
          <p:cNvPr id="63" name="Text 61"/>
          <p:cNvSpPr/>
          <p:nvPr/>
        </p:nvSpPr>
        <p:spPr>
          <a:xfrm>
            <a:off x="1065276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.637</a:t>
            </a:r>
            <a:endParaRPr lang="en-US" sz="810" dirty="0"/>
          </a:p>
        </p:txBody>
      </p:sp>
      <p:sp>
        <p:nvSpPr>
          <p:cNvPr id="64" name="Text 62"/>
          <p:cNvSpPr/>
          <p:nvPr/>
        </p:nvSpPr>
        <p:spPr>
          <a:xfrm>
            <a:off x="6446520" y="3200400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RandomTree</a:t>
            </a:r>
            <a:endParaRPr lang="en-US" sz="810" dirty="0"/>
          </a:p>
        </p:txBody>
      </p:sp>
      <p:sp>
        <p:nvSpPr>
          <p:cNvPr id="65" name="Text 63"/>
          <p:cNvSpPr/>
          <p:nvPr/>
        </p:nvSpPr>
        <p:spPr>
          <a:xfrm>
            <a:off x="7863840" y="3200400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73.40%</a:t>
            </a:r>
            <a:endParaRPr lang="en-US" sz="810" dirty="0"/>
          </a:p>
        </p:txBody>
      </p:sp>
      <p:sp>
        <p:nvSpPr>
          <p:cNvPr id="66" name="Text 64"/>
          <p:cNvSpPr/>
          <p:nvPr/>
        </p:nvSpPr>
        <p:spPr>
          <a:xfrm>
            <a:off x="864108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.634</a:t>
            </a:r>
            <a:endParaRPr lang="en-US" sz="810" dirty="0"/>
          </a:p>
        </p:txBody>
      </p:sp>
      <p:sp>
        <p:nvSpPr>
          <p:cNvPr id="67" name="Text 65"/>
          <p:cNvSpPr/>
          <p:nvPr/>
        </p:nvSpPr>
        <p:spPr>
          <a:xfrm>
            <a:off x="914400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.597</a:t>
            </a:r>
            <a:endParaRPr lang="en-US" sz="810" dirty="0"/>
          </a:p>
        </p:txBody>
      </p:sp>
      <p:sp>
        <p:nvSpPr>
          <p:cNvPr id="68" name="Text 66"/>
          <p:cNvSpPr/>
          <p:nvPr/>
        </p:nvSpPr>
        <p:spPr>
          <a:xfrm>
            <a:off x="964692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.615</a:t>
            </a:r>
            <a:endParaRPr lang="en-US" sz="810" dirty="0"/>
          </a:p>
        </p:txBody>
      </p:sp>
      <p:sp>
        <p:nvSpPr>
          <p:cNvPr id="69" name="Text 67"/>
          <p:cNvSpPr/>
          <p:nvPr/>
        </p:nvSpPr>
        <p:spPr>
          <a:xfrm>
            <a:off x="1014984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.726</a:t>
            </a:r>
            <a:endParaRPr lang="en-US" sz="810" dirty="0"/>
          </a:p>
        </p:txBody>
      </p:sp>
      <p:sp>
        <p:nvSpPr>
          <p:cNvPr id="70" name="Text 68"/>
          <p:cNvSpPr/>
          <p:nvPr/>
        </p:nvSpPr>
        <p:spPr>
          <a:xfrm>
            <a:off x="1065276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.556</a:t>
            </a:r>
            <a:endParaRPr lang="en-US" sz="810" dirty="0"/>
          </a:p>
        </p:txBody>
      </p:sp>
      <p:sp>
        <p:nvSpPr>
          <p:cNvPr id="71" name="Text 69"/>
          <p:cNvSpPr/>
          <p:nvPr/>
        </p:nvSpPr>
        <p:spPr>
          <a:xfrm>
            <a:off x="6583680" y="4315968"/>
            <a:ext cx="48006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DC2626"/>
                </a:solidFill>
              </a:rPr>
              <a:t>Baseline context: ZeroR accuracy = 64.43%, but Participated recall = 0 and Participated F1 = 0.</a:t>
            </a:r>
            <a:endParaRPr lang="en-US" sz="1350" dirty="0"/>
          </a:p>
        </p:txBody>
      </p:sp>
      <p:sp>
        <p:nvSpPr>
          <p:cNvPr id="72" name="Text 70"/>
          <p:cNvSpPr/>
          <p:nvPr/>
        </p:nvSpPr>
        <p:spPr>
          <a:xfrm>
            <a:off x="6583680" y="5074920"/>
            <a:ext cx="4800600" cy="47548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5803D"/>
                </a:solidFill>
              </a:rPr>
              <a:t>The final model improved accuracy by 16.60 percentage points and reduced error rate by about 46.7% relative to ZeroR.</a:t>
            </a:r>
            <a:endParaRPr lang="en-US" sz="1330" dirty="0"/>
          </a:p>
        </p:txBody>
      </p:sp>
      <p:sp>
        <p:nvSpPr>
          <p:cNvPr id="73" name="Text 71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15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validation and RandomForest tuning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K=12 was selected before Test evaluation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53312"/>
            <a:ext cx="18745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Stage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532888" y="1353312"/>
            <a:ext cx="77724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310128" y="1353312"/>
            <a:ext cx="77724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Precision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087368" y="1353312"/>
            <a:ext cx="7315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Recall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4818888" y="1353312"/>
            <a:ext cx="6400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F1</a:t>
            </a:r>
            <a:endParaRPr lang="en-US" sz="910" dirty="0"/>
          </a:p>
        </p:txBody>
      </p:sp>
      <p:sp>
        <p:nvSpPr>
          <p:cNvPr id="10" name="Text 8"/>
          <p:cNvSpPr/>
          <p:nvPr/>
        </p:nvSpPr>
        <p:spPr>
          <a:xfrm>
            <a:off x="5458968" y="1353312"/>
            <a:ext cx="7315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ROC</a:t>
            </a:r>
            <a:endParaRPr lang="en-US" sz="910" dirty="0"/>
          </a:p>
        </p:txBody>
      </p:sp>
      <p:sp>
        <p:nvSpPr>
          <p:cNvPr id="11" name="Text 9"/>
          <p:cNvSpPr/>
          <p:nvPr/>
        </p:nvSpPr>
        <p:spPr>
          <a:xfrm>
            <a:off x="6190488" y="1353312"/>
            <a:ext cx="7315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PRC</a:t>
            </a:r>
            <a:endParaRPr lang="en-US" sz="910" dirty="0"/>
          </a:p>
        </p:txBody>
      </p:sp>
      <p:sp>
        <p:nvSpPr>
          <p:cNvPr id="12" name="Text 10"/>
          <p:cNvSpPr/>
          <p:nvPr/>
        </p:nvSpPr>
        <p:spPr>
          <a:xfrm>
            <a:off x="658368" y="1682496"/>
            <a:ext cx="1874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RF default validation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532888" y="1682496"/>
            <a:ext cx="777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81.19%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310128" y="1682496"/>
            <a:ext cx="777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.854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087368" y="1682496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.568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818888" y="1682496"/>
            <a:ext cx="6400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.682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458968" y="1682496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.878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190488" y="1682496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.840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58368" y="2176272"/>
            <a:ext cx="1874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RandomCommittee validation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32888" y="2176272"/>
            <a:ext cx="77724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80.04%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310128" y="2176272"/>
            <a:ext cx="77724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.791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087368" y="2176272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.595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818888" y="2176272"/>
            <a:ext cx="64008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.679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458968" y="2176272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.881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90488" y="2176272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.835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368" y="2670048"/>
            <a:ext cx="1874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K=10 validation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32888" y="2670048"/>
            <a:ext cx="777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80.81%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310128" y="2670048"/>
            <a:ext cx="777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.797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087368" y="2670048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.616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18888" y="2670048"/>
            <a:ext cx="6400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.695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458968" y="2670048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.858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190488" y="2670048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.819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58368" y="3163824"/>
            <a:ext cx="1874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K=12 validation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532888" y="3163824"/>
            <a:ext cx="77724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81.96%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310128" y="3163824"/>
            <a:ext cx="77724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.818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87368" y="3163824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.632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818888" y="3163824"/>
            <a:ext cx="64008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.713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458968" y="3163824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.870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190488" y="3163824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.823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315200" y="137160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</a:rPr>
              <a:t>K=0 CV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8531352" y="1426464"/>
            <a:ext cx="1857375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680192" y="134416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0.650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7315200" y="175564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</a:rPr>
              <a:t>K=8 CV</a:t>
            </a:r>
            <a:endParaRPr lang="en-US" sz="810" dirty="0"/>
          </a:p>
        </p:txBody>
      </p:sp>
      <p:sp>
        <p:nvSpPr>
          <p:cNvPr id="44" name="Shape 42"/>
          <p:cNvSpPr/>
          <p:nvPr/>
        </p:nvSpPr>
        <p:spPr>
          <a:xfrm>
            <a:off x="8531352" y="1810512"/>
            <a:ext cx="1908810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80192" y="17282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0.668</a:t>
            </a:r>
            <a:endParaRPr lang="en-US" sz="780" dirty="0"/>
          </a:p>
        </p:txBody>
      </p:sp>
      <p:sp>
        <p:nvSpPr>
          <p:cNvPr id="46" name="Text 44"/>
          <p:cNvSpPr/>
          <p:nvPr/>
        </p:nvSpPr>
        <p:spPr>
          <a:xfrm>
            <a:off x="7315200" y="213969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</a:rPr>
              <a:t>K=10 CV</a:t>
            </a:r>
            <a:endParaRPr lang="en-US" sz="810" dirty="0"/>
          </a:p>
        </p:txBody>
      </p:sp>
      <p:sp>
        <p:nvSpPr>
          <p:cNvPr id="47" name="Shape 45"/>
          <p:cNvSpPr/>
          <p:nvPr/>
        </p:nvSpPr>
        <p:spPr>
          <a:xfrm>
            <a:off x="8531352" y="2194560"/>
            <a:ext cx="1891665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680192" y="211226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0.662</a:t>
            </a:r>
            <a:endParaRPr lang="en-US" sz="780" dirty="0"/>
          </a:p>
        </p:txBody>
      </p:sp>
      <p:sp>
        <p:nvSpPr>
          <p:cNvPr id="49" name="Text 47"/>
          <p:cNvSpPr/>
          <p:nvPr/>
        </p:nvSpPr>
        <p:spPr>
          <a:xfrm>
            <a:off x="7315200" y="25237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</a:rPr>
              <a:t>K=12 CV</a:t>
            </a:r>
            <a:endParaRPr lang="en-US" sz="810" dirty="0"/>
          </a:p>
        </p:txBody>
      </p:sp>
      <p:sp>
        <p:nvSpPr>
          <p:cNvPr id="50" name="Shape 48"/>
          <p:cNvSpPr/>
          <p:nvPr/>
        </p:nvSpPr>
        <p:spPr>
          <a:xfrm>
            <a:off x="8531352" y="2578608"/>
            <a:ext cx="1917383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680192" y="249631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0.671</a:t>
            </a:r>
            <a:endParaRPr lang="en-US" sz="780" dirty="0"/>
          </a:p>
        </p:txBody>
      </p:sp>
      <p:sp>
        <p:nvSpPr>
          <p:cNvPr id="52" name="Text 50"/>
          <p:cNvSpPr/>
          <p:nvPr/>
        </p:nvSpPr>
        <p:spPr>
          <a:xfrm>
            <a:off x="7315200" y="290779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</a:rPr>
              <a:t>K=16 CV</a:t>
            </a:r>
            <a:endParaRPr lang="en-US" sz="810" dirty="0"/>
          </a:p>
        </p:txBody>
      </p:sp>
      <p:sp>
        <p:nvSpPr>
          <p:cNvPr id="53" name="Shape 51"/>
          <p:cNvSpPr/>
          <p:nvPr/>
        </p:nvSpPr>
        <p:spPr>
          <a:xfrm>
            <a:off x="8531352" y="2962656"/>
            <a:ext cx="1897380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680192" y="28803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0.664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7315200" y="329184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</a:rPr>
              <a:t>K=10 Val</a:t>
            </a:r>
            <a:endParaRPr lang="en-US" sz="810" dirty="0"/>
          </a:p>
        </p:txBody>
      </p:sp>
      <p:sp>
        <p:nvSpPr>
          <p:cNvPr id="56" name="Shape 54"/>
          <p:cNvSpPr/>
          <p:nvPr/>
        </p:nvSpPr>
        <p:spPr>
          <a:xfrm>
            <a:off x="8531352" y="3346704"/>
            <a:ext cx="1985963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680192" y="326440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0.695</a:t>
            </a:r>
            <a:endParaRPr lang="en-US" sz="780" dirty="0"/>
          </a:p>
        </p:txBody>
      </p:sp>
      <p:sp>
        <p:nvSpPr>
          <p:cNvPr id="58" name="Text 56"/>
          <p:cNvSpPr/>
          <p:nvPr/>
        </p:nvSpPr>
        <p:spPr>
          <a:xfrm>
            <a:off x="7315200" y="367588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334155"/>
                </a:solidFill>
              </a:rPr>
              <a:t>K=12 Val</a:t>
            </a:r>
            <a:endParaRPr lang="en-US" sz="810" dirty="0"/>
          </a:p>
        </p:txBody>
      </p:sp>
      <p:sp>
        <p:nvSpPr>
          <p:cNvPr id="59" name="Shape 57"/>
          <p:cNvSpPr/>
          <p:nvPr/>
        </p:nvSpPr>
        <p:spPr>
          <a:xfrm>
            <a:off x="8531352" y="3730752"/>
            <a:ext cx="2037398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680192" y="364845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0.713</a:t>
            </a:r>
            <a:endParaRPr lang="en-US" sz="780" dirty="0"/>
          </a:p>
        </p:txBody>
      </p:sp>
      <p:sp>
        <p:nvSpPr>
          <p:cNvPr id="61" name="Text 59"/>
          <p:cNvSpPr/>
          <p:nvPr/>
        </p:nvSpPr>
        <p:spPr>
          <a:xfrm>
            <a:off x="914400" y="4965192"/>
            <a:ext cx="6035040" cy="411480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</a:rPr>
              <a:t>Frozen final scheme: WEKA RandomForest, 100 trees, K=12, M=1.0, V=0.001, seed=1.</a:t>
            </a:r>
            <a:endParaRPr lang="en-US" sz="1380" dirty="0"/>
          </a:p>
        </p:txBody>
      </p:sp>
      <p:sp>
        <p:nvSpPr>
          <p:cNvPr id="62" name="Text 60"/>
          <p:cNvSpPr/>
          <p:nvPr/>
        </p:nvSpPr>
        <p:spPr>
          <a:xfrm>
            <a:off x="7360920" y="5010912"/>
            <a:ext cx="3794760" cy="347472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C2626"/>
                </a:solidFill>
              </a:rPr>
              <a:t>No further tuning was allowed after the locked Test result.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16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final locked-Test evaluation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Strong internal generalization with transparent class-level limitations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52728"/>
            <a:ext cx="24688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Metric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3127248" y="1252728"/>
            <a:ext cx="17373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Final Test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658368" y="1581912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Accuracy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3127248" y="1581912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81.0345%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658368" y="1929384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Participated Precision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3127248" y="1929384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0.804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658368" y="2276856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Participated Recall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3127248" y="2276856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0.618</a:t>
            </a:r>
            <a:endParaRPr lang="en-US" sz="860" dirty="0"/>
          </a:p>
        </p:txBody>
      </p:sp>
      <p:sp>
        <p:nvSpPr>
          <p:cNvPr id="13" name="Text 11"/>
          <p:cNvSpPr/>
          <p:nvPr/>
        </p:nvSpPr>
        <p:spPr>
          <a:xfrm>
            <a:off x="658368" y="2624328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Participated F1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3127248" y="2624328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0.699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658368" y="2971800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ROC-AUC</a:t>
            </a:r>
            <a:endParaRPr lang="en-US" sz="860" dirty="0"/>
          </a:p>
        </p:txBody>
      </p:sp>
      <p:sp>
        <p:nvSpPr>
          <p:cNvPr id="16" name="Text 14"/>
          <p:cNvSpPr/>
          <p:nvPr/>
        </p:nvSpPr>
        <p:spPr>
          <a:xfrm>
            <a:off x="3127248" y="2971800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0.879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658368" y="3319272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PRC-AUC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3127248" y="3319272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0.827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58368" y="3666744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Cohen’s Kappa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3127248" y="3666744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0.5641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658368" y="4014216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MCC</a:t>
            </a:r>
            <a:endParaRPr lang="en-US" sz="860" dirty="0"/>
          </a:p>
        </p:txBody>
      </p:sp>
      <p:sp>
        <p:nvSpPr>
          <p:cNvPr id="22" name="Text 20"/>
          <p:cNvSpPr/>
          <p:nvPr/>
        </p:nvSpPr>
        <p:spPr>
          <a:xfrm>
            <a:off x="3127248" y="4014216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0.574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658368" y="4361688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Weighted F1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3127248" y="4361688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0.804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658368" y="4709160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Balanced Accuracy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3127248" y="4709160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0F172A"/>
                </a:solidFill>
              </a:rPr>
              <a:t>0.7675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5257800" y="1417320"/>
            <a:ext cx="1310884" cy="658368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</a:rPr>
              <a:t>Actual / Predicted</a:t>
            </a:r>
            <a:endParaRPr lang="en-US" sz="720" dirty="0"/>
          </a:p>
        </p:txBody>
      </p:sp>
      <p:sp>
        <p:nvSpPr>
          <p:cNvPr id="28" name="Text 26"/>
          <p:cNvSpPr/>
          <p:nvPr/>
        </p:nvSpPr>
        <p:spPr>
          <a:xfrm>
            <a:off x="6568684" y="1417320"/>
            <a:ext cx="1024128" cy="658368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</a:rPr>
              <a:t>NotParticipated</a:t>
            </a:r>
            <a:endParaRPr lang="en-US" sz="710" dirty="0"/>
          </a:p>
        </p:txBody>
      </p:sp>
      <p:sp>
        <p:nvSpPr>
          <p:cNvPr id="29" name="Text 27"/>
          <p:cNvSpPr/>
          <p:nvPr/>
        </p:nvSpPr>
        <p:spPr>
          <a:xfrm>
            <a:off x="7592812" y="1417320"/>
            <a:ext cx="1024128" cy="658368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</a:rPr>
              <a:t>Participated</a:t>
            </a:r>
            <a:endParaRPr lang="en-US" sz="710" dirty="0"/>
          </a:p>
        </p:txBody>
      </p:sp>
      <p:sp>
        <p:nvSpPr>
          <p:cNvPr id="30" name="Text 28"/>
          <p:cNvSpPr/>
          <p:nvPr/>
        </p:nvSpPr>
        <p:spPr>
          <a:xfrm>
            <a:off x="5257800" y="2075688"/>
            <a:ext cx="1310884" cy="65836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F172A"/>
                </a:solidFill>
              </a:rPr>
              <a:t>NotParticipated</a:t>
            </a:r>
            <a:endParaRPr lang="en-US" sz="710" dirty="0"/>
          </a:p>
        </p:txBody>
      </p:sp>
      <p:sp>
        <p:nvSpPr>
          <p:cNvPr id="31" name="Text 29"/>
          <p:cNvSpPr/>
          <p:nvPr/>
        </p:nvSpPr>
        <p:spPr>
          <a:xfrm>
            <a:off x="6568684" y="2075688"/>
            <a:ext cx="1024128" cy="658368"/>
          </a:xfrm>
          <a:prstGeom prst="rect">
            <a:avLst/>
          </a:prstGeom>
          <a:solidFill>
            <a:srgbClr val="1E3A8A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308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92812" y="2075688"/>
            <a:ext cx="102412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28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257800" y="2734056"/>
            <a:ext cx="1310884" cy="65836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F172A"/>
                </a:solidFill>
              </a:rPr>
              <a:t>Participated</a:t>
            </a:r>
            <a:endParaRPr lang="en-US" sz="710" dirty="0"/>
          </a:p>
        </p:txBody>
      </p:sp>
      <p:sp>
        <p:nvSpPr>
          <p:cNvPr id="34" name="Text 32"/>
          <p:cNvSpPr/>
          <p:nvPr/>
        </p:nvSpPr>
        <p:spPr>
          <a:xfrm>
            <a:off x="6568684" y="2734056"/>
            <a:ext cx="1024128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71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592812" y="2734056"/>
            <a:ext cx="1024128" cy="658368"/>
          </a:xfrm>
          <a:prstGeom prst="rect">
            <a:avLst/>
          </a:prstGeom>
          <a:solidFill>
            <a:srgbClr val="93C5F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115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979408" y="144475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15803D"/>
                </a:solidFill>
              </a:rPr>
              <a:t>115/186</a:t>
            </a:r>
            <a:endParaRPr lang="en-US" sz="2650" dirty="0"/>
          </a:p>
        </p:txBody>
      </p:sp>
      <p:sp>
        <p:nvSpPr>
          <p:cNvPr id="37" name="Text 35"/>
          <p:cNvSpPr/>
          <p:nvPr/>
        </p:nvSpPr>
        <p:spPr>
          <a:xfrm>
            <a:off x="8979408" y="1911096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actual participants identified</a:t>
            </a:r>
            <a:endParaRPr lang="en-US" sz="990" dirty="0"/>
          </a:p>
        </p:txBody>
      </p:sp>
      <p:sp>
        <p:nvSpPr>
          <p:cNvPr id="38" name="Text 36"/>
          <p:cNvSpPr/>
          <p:nvPr/>
        </p:nvSpPr>
        <p:spPr>
          <a:xfrm>
            <a:off x="8979408" y="2761488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2563EB"/>
                </a:solidFill>
              </a:rPr>
              <a:t>308/336</a:t>
            </a:r>
            <a:endParaRPr lang="en-US" sz="2650" dirty="0"/>
          </a:p>
        </p:txBody>
      </p:sp>
      <p:sp>
        <p:nvSpPr>
          <p:cNvPr id="39" name="Text 37"/>
          <p:cNvSpPr/>
          <p:nvPr/>
        </p:nvSpPr>
        <p:spPr>
          <a:xfrm>
            <a:off x="8979408" y="3227832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non-participants identified</a:t>
            </a:r>
            <a:endParaRPr lang="en-US" sz="990" dirty="0"/>
          </a:p>
        </p:txBody>
      </p:sp>
      <p:sp>
        <p:nvSpPr>
          <p:cNvPr id="40" name="Text 38"/>
          <p:cNvSpPr/>
          <p:nvPr/>
        </p:nvSpPr>
        <p:spPr>
          <a:xfrm>
            <a:off x="8887968" y="4462272"/>
            <a:ext cx="2606040" cy="62179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40" b="1" dirty="0">
                <a:solidFill>
                  <a:srgbClr val="EA580C"/>
                </a:solidFill>
              </a:rPr>
              <a:t>Participant recall = 61.83%; specificity = 91.67%. The model is better at rejecting non-participants than finding every participant.</a:t>
            </a:r>
            <a:endParaRPr lang="en-US" sz="1340" dirty="0"/>
          </a:p>
        </p:txBody>
      </p:sp>
      <p:sp>
        <p:nvSpPr>
          <p:cNvPr id="41" name="Text 39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17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generalization stability and features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Validation-to-Test gap was small; importance is predictive, not causal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25880"/>
            <a:ext cx="123444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Metric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1892808" y="1325880"/>
            <a:ext cx="132588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Validation K=12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218688" y="1325880"/>
            <a:ext cx="114300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Final Test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361688" y="1325880"/>
            <a:ext cx="14173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Change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658368" y="1655064"/>
            <a:ext cx="12344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Accuracy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1892808" y="1655064"/>
            <a:ext cx="13258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81.9578%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3218688" y="165506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81.0345%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4361688" y="1655064"/>
            <a:ext cx="14173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−0.9233 pp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658368" y="2029968"/>
            <a:ext cx="12344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Precision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1892808" y="2029968"/>
            <a:ext cx="132588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0.818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3218688" y="2029968"/>
            <a:ext cx="114300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0.804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4361688" y="2029968"/>
            <a:ext cx="14173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−0.014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658368" y="2404872"/>
            <a:ext cx="12344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Recall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1892808" y="2404872"/>
            <a:ext cx="13258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0.632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3218688" y="2404872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0.618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4361688" y="2404872"/>
            <a:ext cx="14173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−0.014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658368" y="2779776"/>
            <a:ext cx="12344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F1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1892808" y="2779776"/>
            <a:ext cx="132588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0.713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3218688" y="2779776"/>
            <a:ext cx="114300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0.699</a:t>
            </a:r>
            <a:endParaRPr lang="en-US" sz="820" dirty="0"/>
          </a:p>
        </p:txBody>
      </p:sp>
      <p:sp>
        <p:nvSpPr>
          <p:cNvPr id="24" name="Text 22"/>
          <p:cNvSpPr/>
          <p:nvPr/>
        </p:nvSpPr>
        <p:spPr>
          <a:xfrm>
            <a:off x="4361688" y="2779776"/>
            <a:ext cx="14173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−0.014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658368" y="3154680"/>
            <a:ext cx="12344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ROC-AUC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1892808" y="3154680"/>
            <a:ext cx="13258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0.870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3218688" y="3154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0.879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4361688" y="3154680"/>
            <a:ext cx="14173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+0.009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658368" y="3529584"/>
            <a:ext cx="12344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PRC-AUC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1892808" y="3529584"/>
            <a:ext cx="132588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0.823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3218688" y="3529584"/>
            <a:ext cx="114300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0.827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4361688" y="3529584"/>
            <a:ext cx="14173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+0.004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658368" y="3904488"/>
            <a:ext cx="12344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MCC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1892808" y="3904488"/>
            <a:ext cx="13258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0.595</a:t>
            </a:r>
            <a:endParaRPr lang="en-US" sz="820" dirty="0"/>
          </a:p>
        </p:txBody>
      </p:sp>
      <p:sp>
        <p:nvSpPr>
          <p:cNvPr id="35" name="Text 33"/>
          <p:cNvSpPr/>
          <p:nvPr/>
        </p:nvSpPr>
        <p:spPr>
          <a:xfrm>
            <a:off x="3218688" y="3904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0.574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4361688" y="3904488"/>
            <a:ext cx="14173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0F172A"/>
                </a:solidFill>
              </a:rPr>
              <a:t>−0.021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6309360" y="13167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334155"/>
                </a:solidFill>
              </a:rPr>
              <a:t>HSCGraduationYear</a:t>
            </a:r>
            <a:endParaRPr lang="en-US" sz="790" dirty="0"/>
          </a:p>
        </p:txBody>
      </p:sp>
      <p:sp>
        <p:nvSpPr>
          <p:cNvPr id="38" name="Shape 36"/>
          <p:cNvSpPr/>
          <p:nvPr/>
        </p:nvSpPr>
        <p:spPr>
          <a:xfrm>
            <a:off x="8119872" y="1371600"/>
            <a:ext cx="2275534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543032" y="128930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0.81</a:t>
            </a:r>
            <a:endParaRPr lang="en-US" sz="780" dirty="0"/>
          </a:p>
        </p:txBody>
      </p:sp>
      <p:sp>
        <p:nvSpPr>
          <p:cNvPr id="40" name="Text 38"/>
          <p:cNvSpPr/>
          <p:nvPr/>
        </p:nvSpPr>
        <p:spPr>
          <a:xfrm>
            <a:off x="6309360" y="16733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334155"/>
                </a:solidFill>
              </a:rPr>
              <a:t>Gender</a:t>
            </a:r>
            <a:endParaRPr lang="en-US" sz="790" dirty="0"/>
          </a:p>
        </p:txBody>
      </p:sp>
      <p:sp>
        <p:nvSpPr>
          <p:cNvPr id="41" name="Shape 39"/>
          <p:cNvSpPr/>
          <p:nvPr/>
        </p:nvSpPr>
        <p:spPr>
          <a:xfrm>
            <a:off x="8119872" y="1728216"/>
            <a:ext cx="2247441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543032" y="164592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0.80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6309360" y="20299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334155"/>
                </a:solidFill>
              </a:rPr>
              <a:t>Faculty</a:t>
            </a:r>
            <a:endParaRPr lang="en-US" sz="790" dirty="0"/>
          </a:p>
        </p:txBody>
      </p:sp>
      <p:sp>
        <p:nvSpPr>
          <p:cNvPr id="44" name="Shape 42"/>
          <p:cNvSpPr/>
          <p:nvPr/>
        </p:nvSpPr>
        <p:spPr>
          <a:xfrm>
            <a:off x="8119872" y="2084832"/>
            <a:ext cx="2135069" cy="12801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543032" y="200253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0.76</a:t>
            </a:r>
            <a:endParaRPr lang="en-US" sz="780" dirty="0"/>
          </a:p>
        </p:txBody>
      </p:sp>
      <p:sp>
        <p:nvSpPr>
          <p:cNvPr id="46" name="Text 44"/>
          <p:cNvSpPr/>
          <p:nvPr/>
        </p:nvSpPr>
        <p:spPr>
          <a:xfrm>
            <a:off x="6309360" y="238658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334155"/>
                </a:solidFill>
              </a:rPr>
              <a:t>CollegeLocation</a:t>
            </a:r>
            <a:endParaRPr lang="en-US" sz="790" dirty="0"/>
          </a:p>
        </p:txBody>
      </p:sp>
      <p:sp>
        <p:nvSpPr>
          <p:cNvPr id="47" name="Shape 45"/>
          <p:cNvSpPr/>
          <p:nvPr/>
        </p:nvSpPr>
        <p:spPr>
          <a:xfrm>
            <a:off x="8119872" y="2441448"/>
            <a:ext cx="1966511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543032" y="235915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0.70</a:t>
            </a:r>
            <a:endParaRPr lang="en-US" sz="780" dirty="0"/>
          </a:p>
        </p:txBody>
      </p:sp>
      <p:sp>
        <p:nvSpPr>
          <p:cNvPr id="49" name="Text 47"/>
          <p:cNvSpPr/>
          <p:nvPr/>
        </p:nvSpPr>
        <p:spPr>
          <a:xfrm>
            <a:off x="6309360" y="27432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334155"/>
                </a:solidFill>
              </a:rPr>
              <a:t>CollegeCategory</a:t>
            </a:r>
            <a:endParaRPr lang="en-US" sz="790" dirty="0"/>
          </a:p>
        </p:txBody>
      </p:sp>
      <p:sp>
        <p:nvSpPr>
          <p:cNvPr id="50" name="Shape 48"/>
          <p:cNvSpPr/>
          <p:nvPr/>
        </p:nvSpPr>
        <p:spPr>
          <a:xfrm>
            <a:off x="8119872" y="2798064"/>
            <a:ext cx="1938418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543032" y="271576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0.69</a:t>
            </a:r>
            <a:endParaRPr lang="en-US" sz="780" dirty="0"/>
          </a:p>
        </p:txBody>
      </p:sp>
      <p:sp>
        <p:nvSpPr>
          <p:cNvPr id="52" name="Text 50"/>
          <p:cNvSpPr/>
          <p:nvPr/>
        </p:nvSpPr>
        <p:spPr>
          <a:xfrm>
            <a:off x="6309360" y="30998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334155"/>
                </a:solidFill>
              </a:rPr>
              <a:t>HSCMath</a:t>
            </a:r>
            <a:endParaRPr lang="en-US" sz="790" dirty="0"/>
          </a:p>
        </p:txBody>
      </p:sp>
      <p:sp>
        <p:nvSpPr>
          <p:cNvPr id="53" name="Shape 51"/>
          <p:cNvSpPr/>
          <p:nvPr/>
        </p:nvSpPr>
        <p:spPr>
          <a:xfrm>
            <a:off x="8119872" y="3154680"/>
            <a:ext cx="1938418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543032" y="307238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0.69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6309360" y="34564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334155"/>
                </a:solidFill>
              </a:rPr>
              <a:t>HSCLearningSource</a:t>
            </a:r>
            <a:endParaRPr lang="en-US" sz="790" dirty="0"/>
          </a:p>
        </p:txBody>
      </p:sp>
      <p:sp>
        <p:nvSpPr>
          <p:cNvPr id="56" name="Shape 54"/>
          <p:cNvSpPr/>
          <p:nvPr/>
        </p:nvSpPr>
        <p:spPr>
          <a:xfrm>
            <a:off x="8119872" y="3511296"/>
            <a:ext cx="1882232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543032" y="34290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0.67</a:t>
            </a:r>
            <a:endParaRPr lang="en-US" sz="780" dirty="0"/>
          </a:p>
        </p:txBody>
      </p:sp>
      <p:sp>
        <p:nvSpPr>
          <p:cNvPr id="58" name="Text 56"/>
          <p:cNvSpPr/>
          <p:nvPr/>
        </p:nvSpPr>
        <p:spPr>
          <a:xfrm>
            <a:off x="630936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334155"/>
                </a:solidFill>
              </a:rPr>
              <a:t>CollegeAttendance</a:t>
            </a:r>
            <a:endParaRPr lang="en-US" sz="790" dirty="0"/>
          </a:p>
        </p:txBody>
      </p:sp>
      <p:sp>
        <p:nvSpPr>
          <p:cNvPr id="59" name="Shape 57"/>
          <p:cNvSpPr/>
          <p:nvPr/>
        </p:nvSpPr>
        <p:spPr>
          <a:xfrm>
            <a:off x="8119872" y="3867912"/>
            <a:ext cx="182604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543032" y="37856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0.65</a:t>
            </a:r>
            <a:endParaRPr lang="en-US" sz="780" dirty="0"/>
          </a:p>
        </p:txBody>
      </p:sp>
      <p:sp>
        <p:nvSpPr>
          <p:cNvPr id="61" name="Text 59"/>
          <p:cNvSpPr/>
          <p:nvPr/>
        </p:nvSpPr>
        <p:spPr>
          <a:xfrm>
            <a:off x="6309360" y="4169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334155"/>
                </a:solidFill>
              </a:rPr>
              <a:t>HSCPhysics</a:t>
            </a:r>
            <a:endParaRPr lang="en-US" sz="790" dirty="0"/>
          </a:p>
        </p:txBody>
      </p:sp>
      <p:sp>
        <p:nvSpPr>
          <p:cNvPr id="62" name="Shape 60"/>
          <p:cNvSpPr/>
          <p:nvPr/>
        </p:nvSpPr>
        <p:spPr>
          <a:xfrm>
            <a:off x="8119872" y="4224528"/>
            <a:ext cx="1797953" cy="12801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543032" y="4142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0.64</a:t>
            </a:r>
            <a:endParaRPr lang="en-US" sz="780" dirty="0"/>
          </a:p>
        </p:txBody>
      </p:sp>
      <p:sp>
        <p:nvSpPr>
          <p:cNvPr id="64" name="Text 62"/>
          <p:cNvSpPr/>
          <p:nvPr/>
        </p:nvSpPr>
        <p:spPr>
          <a:xfrm>
            <a:off x="6309360" y="45262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90" dirty="0">
                <a:solidFill>
                  <a:srgbClr val="334155"/>
                </a:solidFill>
              </a:rPr>
              <a:t>ComputerAvailability</a:t>
            </a:r>
            <a:endParaRPr lang="en-US" sz="790" dirty="0"/>
          </a:p>
        </p:txBody>
      </p:sp>
      <p:sp>
        <p:nvSpPr>
          <p:cNvPr id="65" name="Shape 63"/>
          <p:cNvSpPr/>
          <p:nvPr/>
        </p:nvSpPr>
        <p:spPr>
          <a:xfrm>
            <a:off x="8119872" y="4581144"/>
            <a:ext cx="1797953" cy="12801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43032" y="449884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0F172A"/>
                </a:solidFill>
              </a:rPr>
              <a:t>0.64</a:t>
            </a:r>
            <a:endParaRPr lang="en-US" sz="780" dirty="0"/>
          </a:p>
        </p:txBody>
      </p:sp>
      <p:sp>
        <p:nvSpPr>
          <p:cNvPr id="67" name="Text 65"/>
          <p:cNvSpPr/>
          <p:nvPr/>
        </p:nvSpPr>
        <p:spPr>
          <a:xfrm>
            <a:off x="932688" y="5010912"/>
            <a:ext cx="996696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10" b="1" dirty="0">
                <a:solidFill>
                  <a:srgbClr val="DC2626"/>
                </a:solidFill>
              </a:rPr>
              <a:t>Interpretation rule: these are model-specific predictive importance values, not causal effects. Impurity importance can favor variables with many split opportunities.</a:t>
            </a:r>
            <a:endParaRPr lang="en-US" sz="1310" dirty="0"/>
          </a:p>
        </p:txBody>
      </p:sp>
      <p:sp>
        <p:nvSpPr>
          <p:cNvPr id="68" name="Text 66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18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Cross-phase quantitative synthesis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The two tasks are related but not directly comparable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61872"/>
            <a:ext cx="16916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Dimension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377440" y="1261872"/>
            <a:ext cx="2788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Phase 1: Year‑1 CGPA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5166360" y="1261872"/>
            <a:ext cx="28346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Phase 2: ResearchParticipation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685800" y="1591056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Problem type</a:t>
            </a:r>
            <a:endParaRPr lang="en-US" sz="790" dirty="0"/>
          </a:p>
        </p:txBody>
      </p:sp>
      <p:sp>
        <p:nvSpPr>
          <p:cNvPr id="9" name="Text 7"/>
          <p:cNvSpPr/>
          <p:nvPr/>
        </p:nvSpPr>
        <p:spPr>
          <a:xfrm>
            <a:off x="2377440" y="1591056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5-class nominal classification</a:t>
            </a:r>
            <a:endParaRPr lang="en-US" sz="790" dirty="0"/>
          </a:p>
        </p:txBody>
      </p:sp>
      <p:sp>
        <p:nvSpPr>
          <p:cNvPr id="10" name="Text 8"/>
          <p:cNvSpPr/>
          <p:nvPr/>
        </p:nvSpPr>
        <p:spPr>
          <a:xfrm>
            <a:off x="5166360" y="1591056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Binary classification</a:t>
            </a:r>
            <a:endParaRPr lang="en-US" sz="790" dirty="0"/>
          </a:p>
        </p:txBody>
      </p:sp>
      <p:sp>
        <p:nvSpPr>
          <p:cNvPr id="11" name="Text 9"/>
          <p:cNvSpPr/>
          <p:nvPr/>
        </p:nvSpPr>
        <p:spPr>
          <a:xfrm>
            <a:off x="685800" y="1965960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Final usable N</a:t>
            </a:r>
            <a:endParaRPr lang="en-US" sz="790" dirty="0"/>
          </a:p>
        </p:txBody>
      </p:sp>
      <p:sp>
        <p:nvSpPr>
          <p:cNvPr id="12" name="Text 10"/>
          <p:cNvSpPr/>
          <p:nvPr/>
        </p:nvSpPr>
        <p:spPr>
          <a:xfrm>
            <a:off x="2377440" y="1965960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3,516</a:t>
            </a:r>
            <a:endParaRPr lang="en-US" sz="790" dirty="0"/>
          </a:p>
        </p:txBody>
      </p:sp>
      <p:sp>
        <p:nvSpPr>
          <p:cNvPr id="13" name="Text 11"/>
          <p:cNvSpPr/>
          <p:nvPr/>
        </p:nvSpPr>
        <p:spPr>
          <a:xfrm>
            <a:off x="5166360" y="1965960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3,475</a:t>
            </a:r>
            <a:endParaRPr lang="en-US" sz="790" dirty="0"/>
          </a:p>
        </p:txBody>
      </p:sp>
      <p:sp>
        <p:nvSpPr>
          <p:cNvPr id="14" name="Text 12"/>
          <p:cNvSpPr/>
          <p:nvPr/>
        </p:nvSpPr>
        <p:spPr>
          <a:xfrm>
            <a:off x="685800" y="2340864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Predictors</a:t>
            </a:r>
            <a:endParaRPr lang="en-US" sz="790" dirty="0"/>
          </a:p>
        </p:txBody>
      </p:sp>
      <p:sp>
        <p:nvSpPr>
          <p:cNvPr id="15" name="Text 13"/>
          <p:cNvSpPr/>
          <p:nvPr/>
        </p:nvSpPr>
        <p:spPr>
          <a:xfrm>
            <a:off x="2377440" y="2340864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23</a:t>
            </a:r>
            <a:endParaRPr lang="en-US" sz="790" dirty="0"/>
          </a:p>
        </p:txBody>
      </p:sp>
      <p:sp>
        <p:nvSpPr>
          <p:cNvPr id="16" name="Text 14"/>
          <p:cNvSpPr/>
          <p:nvPr/>
        </p:nvSpPr>
        <p:spPr>
          <a:xfrm>
            <a:off x="5166360" y="2340864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24</a:t>
            </a:r>
            <a:endParaRPr lang="en-US" sz="790" dirty="0"/>
          </a:p>
        </p:txBody>
      </p:sp>
      <p:sp>
        <p:nvSpPr>
          <p:cNvPr id="17" name="Text 15"/>
          <p:cNvSpPr/>
          <p:nvPr/>
        </p:nvSpPr>
        <p:spPr>
          <a:xfrm>
            <a:off x="685800" y="2715768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Final Test N</a:t>
            </a:r>
            <a:endParaRPr lang="en-US" sz="790" dirty="0"/>
          </a:p>
        </p:txBody>
      </p:sp>
      <p:sp>
        <p:nvSpPr>
          <p:cNvPr id="18" name="Text 16"/>
          <p:cNvSpPr/>
          <p:nvPr/>
        </p:nvSpPr>
        <p:spPr>
          <a:xfrm>
            <a:off x="2377440" y="2715768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528</a:t>
            </a:r>
            <a:endParaRPr lang="en-US" sz="790" dirty="0"/>
          </a:p>
        </p:txBody>
      </p:sp>
      <p:sp>
        <p:nvSpPr>
          <p:cNvPr id="19" name="Text 17"/>
          <p:cNvSpPr/>
          <p:nvPr/>
        </p:nvSpPr>
        <p:spPr>
          <a:xfrm>
            <a:off x="5166360" y="2715768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522</a:t>
            </a:r>
            <a:endParaRPr lang="en-US" sz="790" dirty="0"/>
          </a:p>
        </p:txBody>
      </p:sp>
      <p:sp>
        <p:nvSpPr>
          <p:cNvPr id="20" name="Text 18"/>
          <p:cNvSpPr/>
          <p:nvPr/>
        </p:nvSpPr>
        <p:spPr>
          <a:xfrm>
            <a:off x="685800" y="3090672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Final Accuracy</a:t>
            </a:r>
            <a:endParaRPr lang="en-US" sz="790" dirty="0"/>
          </a:p>
        </p:txBody>
      </p:sp>
      <p:sp>
        <p:nvSpPr>
          <p:cNvPr id="21" name="Text 19"/>
          <p:cNvSpPr/>
          <p:nvPr/>
        </p:nvSpPr>
        <p:spPr>
          <a:xfrm>
            <a:off x="2377440" y="3090672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59.85%</a:t>
            </a:r>
            <a:endParaRPr lang="en-US" sz="790" dirty="0"/>
          </a:p>
        </p:txBody>
      </p:sp>
      <p:sp>
        <p:nvSpPr>
          <p:cNvPr id="22" name="Text 20"/>
          <p:cNvSpPr/>
          <p:nvPr/>
        </p:nvSpPr>
        <p:spPr>
          <a:xfrm>
            <a:off x="5166360" y="3090672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81.03%</a:t>
            </a:r>
            <a:endParaRPr lang="en-US" sz="790" dirty="0"/>
          </a:p>
        </p:txBody>
      </p:sp>
      <p:sp>
        <p:nvSpPr>
          <p:cNvPr id="23" name="Text 21"/>
          <p:cNvSpPr/>
          <p:nvPr/>
        </p:nvSpPr>
        <p:spPr>
          <a:xfrm>
            <a:off x="685800" y="3465576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Main F1</a:t>
            </a:r>
            <a:endParaRPr lang="en-US" sz="790" dirty="0"/>
          </a:p>
        </p:txBody>
      </p:sp>
      <p:sp>
        <p:nvSpPr>
          <p:cNvPr id="24" name="Text 22"/>
          <p:cNvSpPr/>
          <p:nvPr/>
        </p:nvSpPr>
        <p:spPr>
          <a:xfrm>
            <a:off x="2377440" y="3465576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0.598 weighted</a:t>
            </a:r>
            <a:endParaRPr lang="en-US" sz="790" dirty="0"/>
          </a:p>
        </p:txBody>
      </p:sp>
      <p:sp>
        <p:nvSpPr>
          <p:cNvPr id="25" name="Text 23"/>
          <p:cNvSpPr/>
          <p:nvPr/>
        </p:nvSpPr>
        <p:spPr>
          <a:xfrm>
            <a:off x="5166360" y="3465576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0.699 Participated</a:t>
            </a:r>
            <a:endParaRPr lang="en-US" sz="790" dirty="0"/>
          </a:p>
        </p:txBody>
      </p:sp>
      <p:sp>
        <p:nvSpPr>
          <p:cNvPr id="26" name="Text 24"/>
          <p:cNvSpPr/>
          <p:nvPr/>
        </p:nvSpPr>
        <p:spPr>
          <a:xfrm>
            <a:off x="685800" y="3840480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ROC-AUC</a:t>
            </a:r>
            <a:endParaRPr lang="en-US" sz="790" dirty="0"/>
          </a:p>
        </p:txBody>
      </p:sp>
      <p:sp>
        <p:nvSpPr>
          <p:cNvPr id="27" name="Text 25"/>
          <p:cNvSpPr/>
          <p:nvPr/>
        </p:nvSpPr>
        <p:spPr>
          <a:xfrm>
            <a:off x="2377440" y="3840480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~0.862 weighted</a:t>
            </a:r>
            <a:endParaRPr lang="en-US" sz="790" dirty="0"/>
          </a:p>
        </p:txBody>
      </p:sp>
      <p:sp>
        <p:nvSpPr>
          <p:cNvPr id="28" name="Text 26"/>
          <p:cNvSpPr/>
          <p:nvPr/>
        </p:nvSpPr>
        <p:spPr>
          <a:xfrm>
            <a:off x="5166360" y="3840480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0.879</a:t>
            </a:r>
            <a:endParaRPr lang="en-US" sz="790" dirty="0"/>
          </a:p>
        </p:txBody>
      </p:sp>
      <p:sp>
        <p:nvSpPr>
          <p:cNvPr id="29" name="Text 27"/>
          <p:cNvSpPr/>
          <p:nvPr/>
        </p:nvSpPr>
        <p:spPr>
          <a:xfrm>
            <a:off x="685800" y="4215384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PRC-AUC</a:t>
            </a:r>
            <a:endParaRPr lang="en-US" sz="790" dirty="0"/>
          </a:p>
        </p:txBody>
      </p:sp>
      <p:sp>
        <p:nvSpPr>
          <p:cNvPr id="30" name="Text 28"/>
          <p:cNvSpPr/>
          <p:nvPr/>
        </p:nvSpPr>
        <p:spPr>
          <a:xfrm>
            <a:off x="2377440" y="4215384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~0.715 weighted</a:t>
            </a:r>
            <a:endParaRPr lang="en-US" sz="790" dirty="0"/>
          </a:p>
        </p:txBody>
      </p:sp>
      <p:sp>
        <p:nvSpPr>
          <p:cNvPr id="31" name="Text 29"/>
          <p:cNvSpPr/>
          <p:nvPr/>
        </p:nvSpPr>
        <p:spPr>
          <a:xfrm>
            <a:off x="5166360" y="4215384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0.827</a:t>
            </a:r>
            <a:endParaRPr lang="en-US" sz="790" dirty="0"/>
          </a:p>
        </p:txBody>
      </p:sp>
      <p:sp>
        <p:nvSpPr>
          <p:cNvPr id="32" name="Text 30"/>
          <p:cNvSpPr/>
          <p:nvPr/>
        </p:nvSpPr>
        <p:spPr>
          <a:xfrm>
            <a:off x="685800" y="4590288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Kappa</a:t>
            </a:r>
            <a:endParaRPr lang="en-US" sz="790" dirty="0"/>
          </a:p>
        </p:txBody>
      </p:sp>
      <p:sp>
        <p:nvSpPr>
          <p:cNvPr id="33" name="Text 31"/>
          <p:cNvSpPr/>
          <p:nvPr/>
        </p:nvSpPr>
        <p:spPr>
          <a:xfrm>
            <a:off x="2377440" y="4590288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0.4811</a:t>
            </a:r>
            <a:endParaRPr lang="en-US" sz="790" dirty="0"/>
          </a:p>
        </p:txBody>
      </p:sp>
      <p:sp>
        <p:nvSpPr>
          <p:cNvPr id="34" name="Text 32"/>
          <p:cNvSpPr/>
          <p:nvPr/>
        </p:nvSpPr>
        <p:spPr>
          <a:xfrm>
            <a:off x="5166360" y="4590288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0.5641</a:t>
            </a:r>
            <a:endParaRPr lang="en-US" sz="790" dirty="0"/>
          </a:p>
        </p:txBody>
      </p:sp>
      <p:sp>
        <p:nvSpPr>
          <p:cNvPr id="35" name="Text 33"/>
          <p:cNvSpPr/>
          <p:nvPr/>
        </p:nvSpPr>
        <p:spPr>
          <a:xfrm>
            <a:off x="685800" y="4965192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Key lesson</a:t>
            </a:r>
            <a:endParaRPr lang="en-US" sz="790" dirty="0"/>
          </a:p>
        </p:txBody>
      </p:sp>
      <p:sp>
        <p:nvSpPr>
          <p:cNvPr id="36" name="Text 34"/>
          <p:cNvSpPr/>
          <p:nvPr/>
        </p:nvSpPr>
        <p:spPr>
          <a:xfrm>
            <a:off x="2377440" y="4965192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Context beats 4-feature reduction</a:t>
            </a:r>
            <a:endParaRPr lang="en-US" sz="790" dirty="0"/>
          </a:p>
        </p:txBody>
      </p:sp>
      <p:sp>
        <p:nvSpPr>
          <p:cNvPr id="37" name="Text 35"/>
          <p:cNvSpPr/>
          <p:nvPr/>
        </p:nvSpPr>
        <p:spPr>
          <a:xfrm>
            <a:off x="5166360" y="4965192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0F172A"/>
                </a:solidFill>
              </a:rPr>
              <a:t>K=12 improves minority-class balance</a:t>
            </a:r>
            <a:endParaRPr lang="en-US" sz="790" dirty="0"/>
          </a:p>
        </p:txBody>
      </p:sp>
      <p:sp>
        <p:nvSpPr>
          <p:cNvPr id="38" name="Text 36"/>
          <p:cNvSpPr/>
          <p:nvPr/>
        </p:nvSpPr>
        <p:spPr>
          <a:xfrm>
            <a:off x="8458200" y="13258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5803D"/>
                </a:solidFill>
              </a:rPr>
              <a:t>REPEATABLE FINDINGS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458200" y="16276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334155"/>
                </a:solidFill>
              </a:rPr>
              <a:t>• RandomForest was strongest in both tasks.</a:t>
            </a:r>
            <a:endParaRPr lang="en-US" sz="1210" dirty="0"/>
          </a:p>
        </p:txBody>
      </p:sp>
      <p:sp>
        <p:nvSpPr>
          <p:cNvPr id="40" name="Text 38"/>
          <p:cNvSpPr/>
          <p:nvPr/>
        </p:nvSpPr>
        <p:spPr>
          <a:xfrm>
            <a:off x="8458200" y="22311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334155"/>
                </a:solidFill>
              </a:rPr>
              <a:t>• Nonlinear ensembles beat simple baselines.</a:t>
            </a:r>
            <a:endParaRPr lang="en-US" sz="1210" dirty="0"/>
          </a:p>
        </p:txBody>
      </p:sp>
      <p:sp>
        <p:nvSpPr>
          <p:cNvPr id="41" name="Text 39"/>
          <p:cNvSpPr/>
          <p:nvPr/>
        </p:nvSpPr>
        <p:spPr>
          <a:xfrm>
            <a:off x="8458200" y="283464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334155"/>
                </a:solidFill>
              </a:rPr>
              <a:t>• Feature relevance was distributed across academic and context variables.</a:t>
            </a:r>
            <a:endParaRPr lang="en-US" sz="1210" dirty="0"/>
          </a:p>
        </p:txBody>
      </p:sp>
      <p:sp>
        <p:nvSpPr>
          <p:cNvPr id="42" name="Text 40"/>
          <p:cNvSpPr/>
          <p:nvPr/>
        </p:nvSpPr>
        <p:spPr>
          <a:xfrm>
            <a:off x="8458200" y="343814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334155"/>
                </a:solidFill>
              </a:rPr>
              <a:t>• Confusion matrices revealed limitations hidden by headline accuracy.</a:t>
            </a:r>
            <a:endParaRPr lang="en-US" sz="1210" dirty="0"/>
          </a:p>
        </p:txBody>
      </p:sp>
      <p:sp>
        <p:nvSpPr>
          <p:cNvPr id="43" name="Text 41"/>
          <p:cNvSpPr/>
          <p:nvPr/>
        </p:nvSpPr>
        <p:spPr>
          <a:xfrm>
            <a:off x="8275320" y="4617720"/>
            <a:ext cx="3337560" cy="68580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EA580C"/>
                </a:solidFill>
              </a:rPr>
              <a:t>Important: 0.598 weighted F1 and 0.699 Participated F1 are not directly comparable because the targets and averaging rules differ.</a:t>
            </a:r>
            <a:endParaRPr lang="en-US" sz="1280" dirty="0"/>
          </a:p>
        </p:txBody>
      </p:sp>
      <p:sp>
        <p:nvSpPr>
          <p:cNvPr id="44" name="Text 42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19</a:t>
            </a:r>
            <a:endParaRPr lang="en-US" sz="8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comparison with the reference paper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The reference paper motivates; this project operationalizes prediction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08465"/>
            <a:ext cx="1348740" cy="1920535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197569"/>
            <a:ext cx="144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</a:rPr>
              <a:t>12,411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3502152"/>
            <a:ext cx="1440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Reference paper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observations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2446020" y="2884918"/>
            <a:ext cx="1348740" cy="54408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00300" y="2574022"/>
            <a:ext cx="144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</a:rPr>
              <a:t>3,516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00300" y="3502152"/>
            <a:ext cx="1440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This project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raw observations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389120" y="1658722"/>
            <a:ext cx="1348740" cy="177027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347826"/>
            <a:ext cx="144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</a:rPr>
              <a:t>44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43400" y="3502152"/>
            <a:ext cx="1440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Reference paper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variables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6012180" y="2141525"/>
            <a:ext cx="1348740" cy="1287475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66460" y="1830629"/>
            <a:ext cx="144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</a:rPr>
              <a:t>32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966460" y="3502152"/>
            <a:ext cx="1440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This project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raw variables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868680" y="4297680"/>
            <a:ext cx="3200400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355B"/>
                </a:solidFill>
              </a:rPr>
              <a:t>Size ratio: the reference paper is about 3.53× larger by observations.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092440" y="1444752"/>
            <a:ext cx="31546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Safe positioning statement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119872" y="1975104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0F172A"/>
                </a:solidFill>
              </a:rPr>
              <a:t>The reference paper establishes the value of linked academic and social variables for educational data mining. This project contributes deeper predictive modeling: broad benchmarks, tuning, feature-analysis controls, fixed final evaluation, and reproducibility artifacts.</a:t>
            </a:r>
            <a:endParaRPr lang="en-US" sz="1480" dirty="0"/>
          </a:p>
        </p:txBody>
      </p:sp>
      <p:sp>
        <p:nvSpPr>
          <p:cNvPr id="20" name="Text 18"/>
          <p:cNvSpPr/>
          <p:nvPr/>
        </p:nvSpPr>
        <p:spPr>
          <a:xfrm>
            <a:off x="8092440" y="4315968"/>
            <a:ext cx="3154680" cy="713232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2626"/>
                </a:solidFill>
              </a:rPr>
              <a:t>Not a valid claim: “We outperformed the paper.” Valid claim: “We built a predictive-modeling extension in the same research direction.”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20</a:t>
            </a:r>
            <a:endParaRPr lang="en-US" sz="8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Reproducibility, code, and artifacts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The project is organized as an auditable ML archive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1810512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data</a:t>
            </a:r>
            <a:endParaRPr lang="en-US" sz="970" dirty="0"/>
          </a:p>
        </p:txBody>
      </p:sp>
      <p:sp>
        <p:nvSpPr>
          <p:cNvPr id="6" name="Text 4"/>
          <p:cNvSpPr/>
          <p:nvPr/>
        </p:nvSpPr>
        <p:spPr>
          <a:xfrm>
            <a:off x="685800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raw / processed / splits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14600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660904" y="1353312"/>
            <a:ext cx="1810512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experiments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2660904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WEKA logs + screenshots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489704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636008" y="1353312"/>
            <a:ext cx="1810512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models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4636008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validation + final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64808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611112" y="1353312"/>
            <a:ext cx="1810512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results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6611112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metrics + matrices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439912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8586216" y="1353312"/>
            <a:ext cx="1810512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FFFFFF"/>
                </a:solidFill>
              </a:rPr>
              <a:t>docs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8586216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history + model cards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400" y="3063240"/>
            <a:ext cx="20116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Area</a:t>
            </a:r>
            <a:endParaRPr lang="en-US" sz="910" dirty="0"/>
          </a:p>
        </p:txBody>
      </p:sp>
      <p:sp>
        <p:nvSpPr>
          <p:cNvPr id="20" name="Text 18"/>
          <p:cNvSpPr/>
          <p:nvPr/>
        </p:nvSpPr>
        <p:spPr>
          <a:xfrm>
            <a:off x="2926080" y="3063240"/>
            <a:ext cx="78638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Representative artifact / role</a:t>
            </a:r>
            <a:endParaRPr lang="en-US" sz="910" dirty="0"/>
          </a:p>
        </p:txBody>
      </p:sp>
      <p:sp>
        <p:nvSpPr>
          <p:cNvPr id="21" name="Text 19"/>
          <p:cNvSpPr/>
          <p:nvPr/>
        </p:nvSpPr>
        <p:spPr>
          <a:xfrm>
            <a:off x="914400" y="3392424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Year‑1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926080" y="3392424"/>
            <a:ext cx="78638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WEKA_MODEL_RESULTS.md/.csv; RF_TUNING_AND_FEATURE_SELECTION.md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14400" y="3813048"/>
            <a:ext cx="20116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Year‑1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26080" y="3813048"/>
            <a:ext cx="78638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final_random_forest_pipeline.joblib; final classification and confusion outputs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14400" y="4233672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ResearchParticipation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26080" y="4233672"/>
            <a:ext cx="78638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Benchmark ledger; Final RandomForest K12 model; Test result log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14400" y="4654296"/>
            <a:ext cx="20116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ResearchParticipation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926080" y="4654296"/>
            <a:ext cx="78638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Final classification report, confusion matrix, feature importance, methodology/results document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14400" y="5074920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Main entry point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926080" y="5074920"/>
            <a:ext cx="78638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0F172A"/>
                </a:solidFill>
              </a:rPr>
              <a:t>python main.py status is safe; explicit commands needed to reproduce or evaluate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960120" y="5650992"/>
            <a:ext cx="9738360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12355B"/>
                </a:solidFill>
              </a:rPr>
              <a:t>Repository rule: keep completed Year‑1 artifacts preserved; add ResearchParticipation outputs in target-specific subfolders.</a:t>
            </a:r>
            <a:endParaRPr lang="en-US" sz="1330" dirty="0"/>
          </a:p>
        </p:txBody>
      </p:sp>
      <p:sp>
        <p:nvSpPr>
          <p:cNvPr id="32" name="Text 30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21</a:t>
            </a:r>
            <a:endParaRPr lang="en-US" sz="8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Limitations and responsible interpretation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Strong internal results, but not causal or externally validated claims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334155"/>
                </a:solidFill>
              </a:rPr>
              <a:t>• External validity is not yet established; Test sets are internal hold-outs from the same overall dataset.</a:t>
            </a:r>
            <a:endParaRPr lang="en-US" sz="134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334155"/>
                </a:solidFill>
              </a:rPr>
              <a:t>• Year‑1 CGPA is ordinal in meaning but modeled as nominal classes.</a:t>
            </a:r>
            <a:endParaRPr lang="en-US" sz="134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334155"/>
                </a:solidFill>
              </a:rPr>
              <a:t>• Year‑1 historical WEKA exploration occurred before the final fixed split.</a:t>
            </a:r>
            <a:endParaRPr lang="en-US" sz="134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334155"/>
                </a:solidFill>
              </a:rPr>
              <a:t>• RandomForest impurity importance is predictive and can be biased; it is not causal evidence.</a:t>
            </a:r>
            <a:endParaRPr lang="en-US" sz="1340" dirty="0"/>
          </a:p>
        </p:txBody>
      </p:sp>
      <p:sp>
        <p:nvSpPr>
          <p:cNvPr id="9" name="Text 7"/>
          <p:cNvSpPr/>
          <p:nvPr/>
        </p:nvSpPr>
        <p:spPr>
          <a:xfrm>
            <a:off x="777240" y="342900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334155"/>
                </a:solidFill>
              </a:rPr>
              <a:t>• ResearchParticipation still misses 38.2% of actual participants.</a:t>
            </a:r>
            <a:endParaRPr lang="en-US" sz="1340" dirty="0"/>
          </a:p>
        </p:txBody>
      </p:sp>
      <p:sp>
        <p:nvSpPr>
          <p:cNvPr id="10" name="Text 8"/>
          <p:cNvSpPr/>
          <p:nvPr/>
        </p:nvSpPr>
        <p:spPr>
          <a:xfrm>
            <a:off x="777240" y="393192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334155"/>
                </a:solidFill>
              </a:rPr>
              <a:t>• Probability calibration, subgroup/fairness analysis, confidence intervals, and RP Python reproduction remain future work.</a:t>
            </a:r>
            <a:endParaRPr lang="en-US" sz="1340" dirty="0"/>
          </a:p>
        </p:txBody>
      </p:sp>
      <p:sp>
        <p:nvSpPr>
          <p:cNvPr id="11" name="Text 9"/>
          <p:cNvSpPr/>
          <p:nvPr/>
        </p:nvSpPr>
        <p:spPr>
          <a:xfrm>
            <a:off x="6537960" y="1444752"/>
            <a:ext cx="406908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Claims to avoid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65392" y="199339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DC2626"/>
                </a:solidFill>
              </a:rPr>
              <a:t>• “The model proves causes.”</a:t>
            </a:r>
            <a:endParaRPr lang="en-US" sz="1340" dirty="0"/>
          </a:p>
        </p:txBody>
      </p:sp>
      <p:sp>
        <p:nvSpPr>
          <p:cNvPr id="13" name="Text 11"/>
          <p:cNvSpPr/>
          <p:nvPr/>
        </p:nvSpPr>
        <p:spPr>
          <a:xfrm>
            <a:off x="6565392" y="25420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DC2626"/>
                </a:solidFill>
              </a:rPr>
              <a:t>• “81% accuracy means 81% participant detection.”</a:t>
            </a:r>
            <a:endParaRPr lang="en-US" sz="1340" dirty="0"/>
          </a:p>
        </p:txBody>
      </p:sp>
      <p:sp>
        <p:nvSpPr>
          <p:cNvPr id="14" name="Text 12"/>
          <p:cNvSpPr/>
          <p:nvPr/>
        </p:nvSpPr>
        <p:spPr>
          <a:xfrm>
            <a:off x="6565392" y="309067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DC2626"/>
                </a:solidFill>
              </a:rPr>
              <a:t>• “Our model beats the reference paper.”</a:t>
            </a:r>
            <a:endParaRPr lang="en-US" sz="1340" dirty="0"/>
          </a:p>
        </p:txBody>
      </p:sp>
      <p:sp>
        <p:nvSpPr>
          <p:cNvPr id="15" name="Text 13"/>
          <p:cNvSpPr/>
          <p:nvPr/>
        </p:nvSpPr>
        <p:spPr>
          <a:xfrm>
            <a:off x="6565392" y="36393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DC2626"/>
                </a:solidFill>
              </a:rPr>
              <a:t>• “The model is externally validated.”</a:t>
            </a:r>
            <a:endParaRPr lang="en-US" sz="1340" dirty="0"/>
          </a:p>
        </p:txBody>
      </p:sp>
      <p:sp>
        <p:nvSpPr>
          <p:cNvPr id="16" name="Text 14"/>
          <p:cNvSpPr/>
          <p:nvPr/>
        </p:nvSpPr>
        <p:spPr>
          <a:xfrm>
            <a:off x="6537960" y="4736592"/>
            <a:ext cx="4069080" cy="53035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EA580C"/>
                </a:solidFill>
              </a:rPr>
              <a:t>Responsible use: support academic analysis and early-warning discussion, not automated high-stakes decisions without validation.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22</a:t>
            </a:r>
            <a:endParaRPr lang="en-US" sz="8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 and next phase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The modeling phases are complete; the remaining work is robustness and reporting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2563EB"/>
                </a:solidFill>
              </a:rPr>
              <a:t>2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841248" y="188366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completed prediction tasks</a:t>
            </a:r>
            <a:endParaRPr lang="en-US" sz="990" dirty="0"/>
          </a:p>
        </p:txBody>
      </p:sp>
      <p:sp>
        <p:nvSpPr>
          <p:cNvPr id="7" name="Text 5"/>
          <p:cNvSpPr/>
          <p:nvPr/>
        </p:nvSpPr>
        <p:spPr>
          <a:xfrm>
            <a:off x="3200400" y="14173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15803D"/>
                </a:solidFill>
              </a:rPr>
              <a:t>28</a:t>
            </a:r>
            <a:endParaRPr lang="en-US" sz="2650" dirty="0"/>
          </a:p>
        </p:txBody>
      </p:sp>
      <p:sp>
        <p:nvSpPr>
          <p:cNvPr id="8" name="Text 6"/>
          <p:cNvSpPr/>
          <p:nvPr/>
        </p:nvSpPr>
        <p:spPr>
          <a:xfrm>
            <a:off x="3200400" y="1883664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substantive RP benchmark models</a:t>
            </a:r>
            <a:endParaRPr lang="en-US" sz="990" dirty="0"/>
          </a:p>
        </p:txBody>
      </p:sp>
      <p:sp>
        <p:nvSpPr>
          <p:cNvPr id="9" name="Text 7"/>
          <p:cNvSpPr/>
          <p:nvPr/>
        </p:nvSpPr>
        <p:spPr>
          <a:xfrm>
            <a:off x="5870448" y="14173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50" b="1" dirty="0">
                <a:solidFill>
                  <a:srgbClr val="7C3AED"/>
                </a:solidFill>
              </a:rPr>
              <a:t>K=12</a:t>
            </a:r>
            <a:endParaRPr lang="en-US" sz="2650" dirty="0"/>
          </a:p>
        </p:txBody>
      </p:sp>
      <p:sp>
        <p:nvSpPr>
          <p:cNvPr id="10" name="Text 8"/>
          <p:cNvSpPr/>
          <p:nvPr/>
        </p:nvSpPr>
        <p:spPr>
          <a:xfrm>
            <a:off x="5870448" y="188366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4748B"/>
                </a:solidFill>
              </a:rPr>
              <a:t>final RP RandomForest setting</a:t>
            </a:r>
            <a:endParaRPr lang="en-US" sz="990" dirty="0"/>
          </a:p>
        </p:txBody>
      </p:sp>
      <p:sp>
        <p:nvSpPr>
          <p:cNvPr id="11" name="Text 9"/>
          <p:cNvSpPr/>
          <p:nvPr/>
        </p:nvSpPr>
        <p:spPr>
          <a:xfrm>
            <a:off x="822960" y="2907792"/>
            <a:ext cx="4023360" cy="347472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Final conclusion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" y="3438144"/>
            <a:ext cx="3977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0F172A"/>
                </a:solidFill>
              </a:rPr>
              <a:t>The project demonstrates that academic/context variables can support meaningful prediction of both early CGPA category and research participation, with RandomForest consistently strongest under the tested protocols.</a:t>
            </a:r>
            <a:endParaRPr lang="en-US" sz="1580" dirty="0"/>
          </a:p>
        </p:txBody>
      </p:sp>
      <p:sp>
        <p:nvSpPr>
          <p:cNvPr id="13" name="Text 11"/>
          <p:cNvSpPr/>
          <p:nvPr/>
        </p:nvSpPr>
        <p:spPr>
          <a:xfrm>
            <a:off x="5897880" y="2907792"/>
            <a:ext cx="3931920" cy="34747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Phase 3 roadmap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25312" y="342900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334155"/>
                </a:solidFill>
              </a:rPr>
              <a:t>• ResearchParticipation Information Gain + CFS/BestFirst.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925312" y="397764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334155"/>
                </a:solidFill>
              </a:rPr>
              <a:t>• Leakage-controlled RP feature-selection evaluation.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5925312" y="452628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334155"/>
                </a:solidFill>
              </a:rPr>
              <a:t>• RP‑A vs RP‑B timing comparison.</a:t>
            </a:r>
            <a:endParaRPr lang="en-US" sz="1280" dirty="0"/>
          </a:p>
        </p:txBody>
      </p:sp>
      <p:sp>
        <p:nvSpPr>
          <p:cNvPr id="17" name="Text 15"/>
          <p:cNvSpPr/>
          <p:nvPr/>
        </p:nvSpPr>
        <p:spPr>
          <a:xfrm>
            <a:off x="5925312" y="50749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334155"/>
                </a:solidFill>
              </a:rPr>
              <a:t>• Python reproduction, descriptive tables, and uncertainty analysis.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841248" y="5102352"/>
            <a:ext cx="3977640" cy="38404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C2626"/>
                </a:solidFill>
              </a:rPr>
              <a:t>Do not tune more against the locked Test result.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23</a:t>
            </a:r>
            <a:endParaRPr lang="en-US" sz="8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Viva preparation: concise answers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Use these lines if examiners ask about design choices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07592"/>
            <a:ext cx="27432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Likely question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3429000" y="1307592"/>
            <a:ext cx="80467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Concise answer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685800" y="1636776"/>
            <a:ext cx="274320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Why RandomForest?</a:t>
            </a:r>
            <a:endParaRPr lang="en-US" sz="880" dirty="0"/>
          </a:p>
        </p:txBody>
      </p:sp>
      <p:sp>
        <p:nvSpPr>
          <p:cNvPr id="8" name="Text 6"/>
          <p:cNvSpPr/>
          <p:nvPr/>
        </p:nvSpPr>
        <p:spPr>
          <a:xfrm>
            <a:off x="3429000" y="1636776"/>
            <a:ext cx="804672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It was strongest in the broad benchmark for both tasks and handles nonlinear mixed-feature interactions well.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685800" y="2157984"/>
            <a:ext cx="2743200" cy="5212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Why not accuracy only?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3429000" y="2157984"/>
            <a:ext cx="8046720" cy="5212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Class imbalance and class-specific errors make F1, AUC, Kappa/MCC, and confusion matrices necessary.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685800" y="2679192"/>
            <a:ext cx="274320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Why did Year‑1 feature selection hurt?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3429000" y="2679192"/>
            <a:ext cx="804672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The four direct-signal features removed weaker contextual variables that supplied complementary nonlinear information.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685800" y="3200400"/>
            <a:ext cx="2743200" cy="5212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Why K=12 for RP?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3429000" y="3200400"/>
            <a:ext cx="8046720" cy="5212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It gave the best Train-CV F1 among tested K values and the best Validation F1 before Test.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685800" y="3721608"/>
            <a:ext cx="274320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Biggest RP weakness?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429000" y="3721608"/>
            <a:ext cx="804672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Participant recall is 0.618, so 38.2% of actual participants are still missed.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685800" y="4242816"/>
            <a:ext cx="2743200" cy="5212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Can 59.85% and 81.03% be compared directly?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3429000" y="4242816"/>
            <a:ext cx="8046720" cy="5212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No. One is five-class CGPA; the other is binary participation. Task difficulty and F1 definitions differ.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685800" y="4764024"/>
            <a:ext cx="274320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What is next?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3429000" y="4764024"/>
            <a:ext cx="8046720" cy="5212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0F172A"/>
                </a:solidFill>
              </a:rPr>
              <a:t>RP feature-selection robustness, timing comparison, Python reproduction, descriptive statistics, and uncertainty analysis.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24</a:t>
            </a:r>
            <a:endParaRPr lang="en-US" sz="8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Appendix: key metric definitions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Useful for viva or backup explanation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61872"/>
            <a:ext cx="21488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Metric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807208" y="1261872"/>
            <a:ext cx="29718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Formula / definition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5779008" y="1261872"/>
            <a:ext cx="56692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Use in this project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658368" y="1591056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Accuracy</a:t>
            </a:r>
            <a:endParaRPr lang="en-US" sz="840" dirty="0"/>
          </a:p>
        </p:txBody>
      </p:sp>
      <p:sp>
        <p:nvSpPr>
          <p:cNvPr id="9" name="Text 7"/>
          <p:cNvSpPr/>
          <p:nvPr/>
        </p:nvSpPr>
        <p:spPr>
          <a:xfrm>
            <a:off x="2807208" y="1591056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Correct / All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5779008" y="1591056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Overall correctness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658368" y="1947672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Precision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2807208" y="1947672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TP / (TP + FP)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5779008" y="1947672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Reliability of positive/class predictions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658368" y="2304288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Recall / Sensitivity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2807208" y="2304288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TP / (TP + FN)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5779008" y="2304288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Detection of actual positives/classes</a:t>
            </a:r>
            <a:endParaRPr lang="en-US" sz="840" dirty="0"/>
          </a:p>
        </p:txBody>
      </p:sp>
      <p:sp>
        <p:nvSpPr>
          <p:cNvPr id="17" name="Text 15"/>
          <p:cNvSpPr/>
          <p:nvPr/>
        </p:nvSpPr>
        <p:spPr>
          <a:xfrm>
            <a:off x="658368" y="2660904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F1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2807208" y="2660904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2PR / (P + R)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5779008" y="2660904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Balances precision and recall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658368" y="3017520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Specificity</a:t>
            </a:r>
            <a:endParaRPr lang="en-US" sz="840" dirty="0"/>
          </a:p>
        </p:txBody>
      </p:sp>
      <p:sp>
        <p:nvSpPr>
          <p:cNvPr id="21" name="Text 19"/>
          <p:cNvSpPr/>
          <p:nvPr/>
        </p:nvSpPr>
        <p:spPr>
          <a:xfrm>
            <a:off x="2807208" y="3017520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TN / (TN + FP)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5779008" y="3017520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Correct rejection of negatives</a:t>
            </a:r>
            <a:endParaRPr lang="en-US" sz="840" dirty="0"/>
          </a:p>
        </p:txBody>
      </p:sp>
      <p:sp>
        <p:nvSpPr>
          <p:cNvPr id="23" name="Text 21"/>
          <p:cNvSpPr/>
          <p:nvPr/>
        </p:nvSpPr>
        <p:spPr>
          <a:xfrm>
            <a:off x="658368" y="3374136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Balanced Accuracy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2807208" y="3374136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(Sensitivity + Specificity) / 2</a:t>
            </a: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5779008" y="3374136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Handles binary imbalance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658368" y="3730752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Kappa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2807208" y="3730752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Chance-adjusted agreement</a:t>
            </a:r>
            <a:endParaRPr lang="en-US" sz="840" dirty="0"/>
          </a:p>
        </p:txBody>
      </p:sp>
      <p:sp>
        <p:nvSpPr>
          <p:cNvPr id="28" name="Text 26"/>
          <p:cNvSpPr/>
          <p:nvPr/>
        </p:nvSpPr>
        <p:spPr>
          <a:xfrm>
            <a:off x="5779008" y="3730752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Beyond-chance multiclass agreement</a:t>
            </a:r>
            <a:endParaRPr lang="en-US" sz="840" dirty="0"/>
          </a:p>
        </p:txBody>
      </p:sp>
      <p:sp>
        <p:nvSpPr>
          <p:cNvPr id="29" name="Text 27"/>
          <p:cNvSpPr/>
          <p:nvPr/>
        </p:nvSpPr>
        <p:spPr>
          <a:xfrm>
            <a:off x="658368" y="4087368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MCC</a:t>
            </a:r>
            <a:endParaRPr lang="en-US" sz="840" dirty="0"/>
          </a:p>
        </p:txBody>
      </p:sp>
      <p:sp>
        <p:nvSpPr>
          <p:cNvPr id="30" name="Text 28"/>
          <p:cNvSpPr/>
          <p:nvPr/>
        </p:nvSpPr>
        <p:spPr>
          <a:xfrm>
            <a:off x="2807208" y="4087368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Correlation-like binary score</a:t>
            </a:r>
            <a:endParaRPr lang="en-US" sz="840" dirty="0"/>
          </a:p>
        </p:txBody>
      </p:sp>
      <p:sp>
        <p:nvSpPr>
          <p:cNvPr id="31" name="Text 29"/>
          <p:cNvSpPr/>
          <p:nvPr/>
        </p:nvSpPr>
        <p:spPr>
          <a:xfrm>
            <a:off x="5779008" y="4087368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Robust binary performance</a:t>
            </a:r>
            <a:endParaRPr lang="en-US" sz="840" dirty="0"/>
          </a:p>
        </p:txBody>
      </p:sp>
      <p:sp>
        <p:nvSpPr>
          <p:cNvPr id="32" name="Text 30"/>
          <p:cNvSpPr/>
          <p:nvPr/>
        </p:nvSpPr>
        <p:spPr>
          <a:xfrm>
            <a:off x="658368" y="4443984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ROC-AUC</a:t>
            </a:r>
            <a:endParaRPr lang="en-US" sz="840" dirty="0"/>
          </a:p>
        </p:txBody>
      </p:sp>
      <p:sp>
        <p:nvSpPr>
          <p:cNvPr id="33" name="Text 31"/>
          <p:cNvSpPr/>
          <p:nvPr/>
        </p:nvSpPr>
        <p:spPr>
          <a:xfrm>
            <a:off x="2807208" y="4443984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Area under TPR/FPR curve</a:t>
            </a:r>
            <a:endParaRPr lang="en-US" sz="840" dirty="0"/>
          </a:p>
        </p:txBody>
      </p:sp>
      <p:sp>
        <p:nvSpPr>
          <p:cNvPr id="34" name="Text 32"/>
          <p:cNvSpPr/>
          <p:nvPr/>
        </p:nvSpPr>
        <p:spPr>
          <a:xfrm>
            <a:off x="5779008" y="4443984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Ranking quality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658368" y="4800600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PRC-AUC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2807208" y="4800600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Area under precision-recall curve</a:t>
            </a:r>
            <a:endParaRPr lang="en-US" sz="840" dirty="0"/>
          </a:p>
        </p:txBody>
      </p:sp>
      <p:sp>
        <p:nvSpPr>
          <p:cNvPr id="37" name="Text 35"/>
          <p:cNvSpPr/>
          <p:nvPr/>
        </p:nvSpPr>
        <p:spPr>
          <a:xfrm>
            <a:off x="5779008" y="4800600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0F172A"/>
                </a:solidFill>
              </a:rPr>
              <a:t>Useful for minority class</a:t>
            </a:r>
            <a:endParaRPr lang="en-US" sz="840" dirty="0"/>
          </a:p>
        </p:txBody>
      </p:sp>
      <p:sp>
        <p:nvSpPr>
          <p:cNvPr id="38" name="Text 36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25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Appendix: benchmark ledgers summarized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Full ledgers are preserved in project artifacts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98448"/>
            <a:ext cx="1874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Year‑1 top / reference models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468880" y="1298448"/>
            <a:ext cx="86868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337560" y="1298448"/>
            <a:ext cx="731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W-F1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069080" y="1298448"/>
            <a:ext cx="731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ROC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4800600" y="1298448"/>
            <a:ext cx="77724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PRC</a:t>
            </a:r>
            <a:endParaRPr lang="en-US" sz="910" dirty="0"/>
          </a:p>
        </p:txBody>
      </p:sp>
      <p:sp>
        <p:nvSpPr>
          <p:cNvPr id="10" name="Text 8"/>
          <p:cNvSpPr/>
          <p:nvPr/>
        </p:nvSpPr>
        <p:spPr>
          <a:xfrm>
            <a:off x="594360" y="1627632"/>
            <a:ext cx="1874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RandomForest</a:t>
            </a:r>
            <a:endParaRPr lang="en-US" sz="810" dirty="0"/>
          </a:p>
        </p:txBody>
      </p:sp>
      <p:sp>
        <p:nvSpPr>
          <p:cNvPr id="11" name="Text 9"/>
          <p:cNvSpPr/>
          <p:nvPr/>
        </p:nvSpPr>
        <p:spPr>
          <a:xfrm>
            <a:off x="2468880" y="1627632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60.3242%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3337560" y="1627632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0.604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4069080" y="1627632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0.863</a:t>
            </a:r>
            <a:endParaRPr lang="en-US" sz="810" dirty="0"/>
          </a:p>
        </p:txBody>
      </p:sp>
      <p:sp>
        <p:nvSpPr>
          <p:cNvPr id="14" name="Text 12"/>
          <p:cNvSpPr/>
          <p:nvPr/>
        </p:nvSpPr>
        <p:spPr>
          <a:xfrm>
            <a:off x="4800600" y="1627632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0.724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594360" y="2020824"/>
            <a:ext cx="1874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RandomCommittee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2468880" y="2020824"/>
            <a:ext cx="8686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58.2480%</a:t>
            </a:r>
            <a:endParaRPr lang="en-US" sz="810" dirty="0"/>
          </a:p>
        </p:txBody>
      </p:sp>
      <p:sp>
        <p:nvSpPr>
          <p:cNvPr id="17" name="Text 15"/>
          <p:cNvSpPr/>
          <p:nvPr/>
        </p:nvSpPr>
        <p:spPr>
          <a:xfrm>
            <a:off x="3337560" y="2020824"/>
            <a:ext cx="731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0.583</a:t>
            </a:r>
            <a:endParaRPr lang="en-US" sz="810" dirty="0"/>
          </a:p>
        </p:txBody>
      </p:sp>
      <p:sp>
        <p:nvSpPr>
          <p:cNvPr id="18" name="Text 16"/>
          <p:cNvSpPr/>
          <p:nvPr/>
        </p:nvSpPr>
        <p:spPr>
          <a:xfrm>
            <a:off x="4069080" y="2020824"/>
            <a:ext cx="731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0.848</a:t>
            </a:r>
            <a:endParaRPr lang="en-US" sz="810" dirty="0"/>
          </a:p>
        </p:txBody>
      </p:sp>
      <p:sp>
        <p:nvSpPr>
          <p:cNvPr id="19" name="Text 17"/>
          <p:cNvSpPr/>
          <p:nvPr/>
        </p:nvSpPr>
        <p:spPr>
          <a:xfrm>
            <a:off x="4800600" y="2020824"/>
            <a:ext cx="77724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0.704</a:t>
            </a:r>
            <a:endParaRPr lang="en-US" sz="810" dirty="0"/>
          </a:p>
        </p:txBody>
      </p:sp>
      <p:sp>
        <p:nvSpPr>
          <p:cNvPr id="20" name="Text 18"/>
          <p:cNvSpPr/>
          <p:nvPr/>
        </p:nvSpPr>
        <p:spPr>
          <a:xfrm>
            <a:off x="594360" y="2414016"/>
            <a:ext cx="1874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LMT</a:t>
            </a:r>
            <a:endParaRPr lang="en-US" sz="810" dirty="0"/>
          </a:p>
        </p:txBody>
      </p:sp>
      <p:sp>
        <p:nvSpPr>
          <p:cNvPr id="21" name="Text 19"/>
          <p:cNvSpPr/>
          <p:nvPr/>
        </p:nvSpPr>
        <p:spPr>
          <a:xfrm>
            <a:off x="2468880" y="2414016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58.1342%</a:t>
            </a:r>
            <a:endParaRPr lang="en-US" sz="810" dirty="0"/>
          </a:p>
        </p:txBody>
      </p:sp>
      <p:sp>
        <p:nvSpPr>
          <p:cNvPr id="22" name="Text 20"/>
          <p:cNvSpPr/>
          <p:nvPr/>
        </p:nvSpPr>
        <p:spPr>
          <a:xfrm>
            <a:off x="3337560" y="2414016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0.581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4069080" y="2414016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0.781</a:t>
            </a:r>
            <a:endParaRPr lang="en-US" sz="810" dirty="0"/>
          </a:p>
        </p:txBody>
      </p:sp>
      <p:sp>
        <p:nvSpPr>
          <p:cNvPr id="24" name="Text 22"/>
          <p:cNvSpPr/>
          <p:nvPr/>
        </p:nvSpPr>
        <p:spPr>
          <a:xfrm>
            <a:off x="4800600" y="2414016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0.544</a:t>
            </a:r>
            <a:endParaRPr lang="en-US" sz="810" dirty="0"/>
          </a:p>
        </p:txBody>
      </p:sp>
      <p:sp>
        <p:nvSpPr>
          <p:cNvPr id="25" name="Text 23"/>
          <p:cNvSpPr/>
          <p:nvPr/>
        </p:nvSpPr>
        <p:spPr>
          <a:xfrm>
            <a:off x="594360" y="2807208"/>
            <a:ext cx="1874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KStar</a:t>
            </a:r>
            <a:endParaRPr lang="en-US" sz="810" dirty="0"/>
          </a:p>
        </p:txBody>
      </p:sp>
      <p:sp>
        <p:nvSpPr>
          <p:cNvPr id="26" name="Text 24"/>
          <p:cNvSpPr/>
          <p:nvPr/>
        </p:nvSpPr>
        <p:spPr>
          <a:xfrm>
            <a:off x="2468880" y="2807208"/>
            <a:ext cx="8686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58.0489%</a:t>
            </a:r>
            <a:endParaRPr lang="en-US" sz="810" dirty="0"/>
          </a:p>
        </p:txBody>
      </p:sp>
      <p:sp>
        <p:nvSpPr>
          <p:cNvPr id="27" name="Text 25"/>
          <p:cNvSpPr/>
          <p:nvPr/>
        </p:nvSpPr>
        <p:spPr>
          <a:xfrm>
            <a:off x="3337560" y="2807208"/>
            <a:ext cx="731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0.579</a:t>
            </a:r>
            <a:endParaRPr lang="en-US" sz="810" dirty="0"/>
          </a:p>
        </p:txBody>
      </p:sp>
      <p:sp>
        <p:nvSpPr>
          <p:cNvPr id="28" name="Text 26"/>
          <p:cNvSpPr/>
          <p:nvPr/>
        </p:nvSpPr>
        <p:spPr>
          <a:xfrm>
            <a:off x="4069080" y="2807208"/>
            <a:ext cx="731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0.851</a:t>
            </a:r>
            <a:endParaRPr lang="en-US" sz="810" dirty="0"/>
          </a:p>
        </p:txBody>
      </p:sp>
      <p:sp>
        <p:nvSpPr>
          <p:cNvPr id="29" name="Text 27"/>
          <p:cNvSpPr/>
          <p:nvPr/>
        </p:nvSpPr>
        <p:spPr>
          <a:xfrm>
            <a:off x="4800600" y="2807208"/>
            <a:ext cx="77724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0.702</a:t>
            </a:r>
            <a:endParaRPr lang="en-US" sz="810" dirty="0"/>
          </a:p>
        </p:txBody>
      </p:sp>
      <p:sp>
        <p:nvSpPr>
          <p:cNvPr id="30" name="Text 28"/>
          <p:cNvSpPr/>
          <p:nvPr/>
        </p:nvSpPr>
        <p:spPr>
          <a:xfrm>
            <a:off x="594360" y="3200400"/>
            <a:ext cx="1874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ZeroR</a:t>
            </a:r>
            <a:endParaRPr lang="en-US" sz="810" dirty="0"/>
          </a:p>
        </p:txBody>
      </p:sp>
      <p:sp>
        <p:nvSpPr>
          <p:cNvPr id="31" name="Text 29"/>
          <p:cNvSpPr/>
          <p:nvPr/>
        </p:nvSpPr>
        <p:spPr>
          <a:xfrm>
            <a:off x="2468880" y="3200400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28.0148%</a:t>
            </a:r>
            <a:endParaRPr lang="en-US" sz="810" dirty="0"/>
          </a:p>
        </p:txBody>
      </p:sp>
      <p:sp>
        <p:nvSpPr>
          <p:cNvPr id="32" name="Text 30"/>
          <p:cNvSpPr/>
          <p:nvPr/>
        </p:nvSpPr>
        <p:spPr>
          <a:xfrm>
            <a:off x="3337560" y="3200400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—</a:t>
            </a:r>
            <a:endParaRPr lang="en-US" sz="810" dirty="0"/>
          </a:p>
        </p:txBody>
      </p:sp>
      <p:sp>
        <p:nvSpPr>
          <p:cNvPr id="33" name="Text 31"/>
          <p:cNvSpPr/>
          <p:nvPr/>
        </p:nvSpPr>
        <p:spPr>
          <a:xfrm>
            <a:off x="4069080" y="3200400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0.498</a:t>
            </a:r>
            <a:endParaRPr lang="en-US" sz="810" dirty="0"/>
          </a:p>
        </p:txBody>
      </p:sp>
      <p:sp>
        <p:nvSpPr>
          <p:cNvPr id="34" name="Text 32"/>
          <p:cNvSpPr/>
          <p:nvPr/>
        </p:nvSpPr>
        <p:spPr>
          <a:xfrm>
            <a:off x="4800600" y="3200400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0.213</a:t>
            </a:r>
            <a:endParaRPr lang="en-US" sz="810" dirty="0"/>
          </a:p>
        </p:txBody>
      </p:sp>
      <p:sp>
        <p:nvSpPr>
          <p:cNvPr id="35" name="Text 33"/>
          <p:cNvSpPr/>
          <p:nvPr/>
        </p:nvSpPr>
        <p:spPr>
          <a:xfrm>
            <a:off x="6309360" y="1298448"/>
            <a:ext cx="205740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ResearchParticipation top / reference models</a:t>
            </a:r>
            <a:endParaRPr lang="en-US" sz="910" dirty="0"/>
          </a:p>
        </p:txBody>
      </p:sp>
      <p:sp>
        <p:nvSpPr>
          <p:cNvPr id="36" name="Text 34"/>
          <p:cNvSpPr/>
          <p:nvPr/>
        </p:nvSpPr>
        <p:spPr>
          <a:xfrm>
            <a:off x="8366760" y="1298448"/>
            <a:ext cx="8686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37" name="Text 35"/>
          <p:cNvSpPr/>
          <p:nvPr/>
        </p:nvSpPr>
        <p:spPr>
          <a:xfrm>
            <a:off x="9235440" y="1298448"/>
            <a:ext cx="5943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P</a:t>
            </a:r>
            <a:endParaRPr lang="en-US" sz="910" dirty="0"/>
          </a:p>
        </p:txBody>
      </p:sp>
      <p:sp>
        <p:nvSpPr>
          <p:cNvPr id="38" name="Text 36"/>
          <p:cNvSpPr/>
          <p:nvPr/>
        </p:nvSpPr>
        <p:spPr>
          <a:xfrm>
            <a:off x="9829800" y="1298448"/>
            <a:ext cx="5943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R</a:t>
            </a:r>
            <a:endParaRPr lang="en-US" sz="910" dirty="0"/>
          </a:p>
        </p:txBody>
      </p:sp>
      <p:sp>
        <p:nvSpPr>
          <p:cNvPr id="39" name="Text 37"/>
          <p:cNvSpPr/>
          <p:nvPr/>
        </p:nvSpPr>
        <p:spPr>
          <a:xfrm>
            <a:off x="10424160" y="1298448"/>
            <a:ext cx="5943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</a:rPr>
              <a:t>F1</a:t>
            </a:r>
            <a:endParaRPr lang="en-US" sz="910" dirty="0"/>
          </a:p>
        </p:txBody>
      </p:sp>
      <p:sp>
        <p:nvSpPr>
          <p:cNvPr id="40" name="Text 38"/>
          <p:cNvSpPr/>
          <p:nvPr/>
        </p:nvSpPr>
        <p:spPr>
          <a:xfrm>
            <a:off x="6309360" y="1627632"/>
            <a:ext cx="20574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RandomForest default</a:t>
            </a:r>
            <a:endParaRPr lang="en-US" sz="810" dirty="0"/>
          </a:p>
        </p:txBody>
      </p:sp>
      <p:sp>
        <p:nvSpPr>
          <p:cNvPr id="41" name="Text 39"/>
          <p:cNvSpPr/>
          <p:nvPr/>
        </p:nvSpPr>
        <p:spPr>
          <a:xfrm>
            <a:off x="8366760" y="1627632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79.1118%</a:t>
            </a:r>
            <a:endParaRPr lang="en-US" sz="810" dirty="0"/>
          </a:p>
        </p:txBody>
      </p:sp>
      <p:sp>
        <p:nvSpPr>
          <p:cNvPr id="42" name="Text 40"/>
          <p:cNvSpPr/>
          <p:nvPr/>
        </p:nvSpPr>
        <p:spPr>
          <a:xfrm>
            <a:off x="9235440" y="1627632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.805</a:t>
            </a:r>
            <a:endParaRPr lang="en-US" sz="810" dirty="0"/>
          </a:p>
        </p:txBody>
      </p:sp>
      <p:sp>
        <p:nvSpPr>
          <p:cNvPr id="43" name="Text 41"/>
          <p:cNvSpPr/>
          <p:nvPr/>
        </p:nvSpPr>
        <p:spPr>
          <a:xfrm>
            <a:off x="9829800" y="1627632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.545</a:t>
            </a:r>
            <a:endParaRPr lang="en-US" sz="810" dirty="0"/>
          </a:p>
        </p:txBody>
      </p:sp>
      <p:sp>
        <p:nvSpPr>
          <p:cNvPr id="44" name="Text 42"/>
          <p:cNvSpPr/>
          <p:nvPr/>
        </p:nvSpPr>
        <p:spPr>
          <a:xfrm>
            <a:off x="10424160" y="1627632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.650</a:t>
            </a:r>
            <a:endParaRPr lang="en-US" sz="810" dirty="0"/>
          </a:p>
        </p:txBody>
      </p:sp>
      <p:sp>
        <p:nvSpPr>
          <p:cNvPr id="45" name="Text 43"/>
          <p:cNvSpPr/>
          <p:nvPr/>
        </p:nvSpPr>
        <p:spPr>
          <a:xfrm>
            <a:off x="6309360" y="2020824"/>
            <a:ext cx="205740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LMT</a:t>
            </a:r>
            <a:endParaRPr lang="en-US" sz="810" dirty="0"/>
          </a:p>
        </p:txBody>
      </p:sp>
      <p:sp>
        <p:nvSpPr>
          <p:cNvPr id="46" name="Text 44"/>
          <p:cNvSpPr/>
          <p:nvPr/>
        </p:nvSpPr>
        <p:spPr>
          <a:xfrm>
            <a:off x="8366760" y="2020824"/>
            <a:ext cx="8686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74.2599%</a:t>
            </a:r>
            <a:endParaRPr lang="en-US" sz="810" dirty="0"/>
          </a:p>
        </p:txBody>
      </p:sp>
      <p:sp>
        <p:nvSpPr>
          <p:cNvPr id="47" name="Text 45"/>
          <p:cNvSpPr/>
          <p:nvPr/>
        </p:nvSpPr>
        <p:spPr>
          <a:xfrm>
            <a:off x="9235440" y="2020824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.644</a:t>
            </a:r>
            <a:endParaRPr lang="en-US" sz="810" dirty="0"/>
          </a:p>
        </p:txBody>
      </p:sp>
      <p:sp>
        <p:nvSpPr>
          <p:cNvPr id="48" name="Text 46"/>
          <p:cNvSpPr/>
          <p:nvPr/>
        </p:nvSpPr>
        <p:spPr>
          <a:xfrm>
            <a:off x="9829800" y="2020824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.616</a:t>
            </a:r>
            <a:endParaRPr lang="en-US" sz="810" dirty="0"/>
          </a:p>
        </p:txBody>
      </p:sp>
      <p:sp>
        <p:nvSpPr>
          <p:cNvPr id="49" name="Text 47"/>
          <p:cNvSpPr/>
          <p:nvPr/>
        </p:nvSpPr>
        <p:spPr>
          <a:xfrm>
            <a:off x="10424160" y="2020824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.630</a:t>
            </a:r>
            <a:endParaRPr lang="en-US" sz="810" dirty="0"/>
          </a:p>
        </p:txBody>
      </p:sp>
      <p:sp>
        <p:nvSpPr>
          <p:cNvPr id="50" name="Text 48"/>
          <p:cNvSpPr/>
          <p:nvPr/>
        </p:nvSpPr>
        <p:spPr>
          <a:xfrm>
            <a:off x="6309360" y="2414016"/>
            <a:ext cx="20574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RandomCommittee</a:t>
            </a:r>
            <a:endParaRPr lang="en-US" sz="810" dirty="0"/>
          </a:p>
        </p:txBody>
      </p:sp>
      <p:sp>
        <p:nvSpPr>
          <p:cNvPr id="51" name="Text 49"/>
          <p:cNvSpPr/>
          <p:nvPr/>
        </p:nvSpPr>
        <p:spPr>
          <a:xfrm>
            <a:off x="8366760" y="2414016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76.2747%</a:t>
            </a:r>
            <a:endParaRPr lang="en-US" sz="810" dirty="0"/>
          </a:p>
        </p:txBody>
      </p:sp>
      <p:sp>
        <p:nvSpPr>
          <p:cNvPr id="52" name="Text 50"/>
          <p:cNvSpPr/>
          <p:nvPr/>
        </p:nvSpPr>
        <p:spPr>
          <a:xfrm>
            <a:off x="9235440" y="2414016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.716</a:t>
            </a:r>
            <a:endParaRPr lang="en-US" sz="810" dirty="0"/>
          </a:p>
        </p:txBody>
      </p:sp>
      <p:sp>
        <p:nvSpPr>
          <p:cNvPr id="53" name="Text 51"/>
          <p:cNvSpPr/>
          <p:nvPr/>
        </p:nvSpPr>
        <p:spPr>
          <a:xfrm>
            <a:off x="9829800" y="2414016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.553</a:t>
            </a:r>
            <a:endParaRPr lang="en-US" sz="810" dirty="0"/>
          </a:p>
        </p:txBody>
      </p:sp>
      <p:sp>
        <p:nvSpPr>
          <p:cNvPr id="54" name="Text 52"/>
          <p:cNvSpPr/>
          <p:nvPr/>
        </p:nvSpPr>
        <p:spPr>
          <a:xfrm>
            <a:off x="10424160" y="2414016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.624</a:t>
            </a:r>
            <a:endParaRPr lang="en-US" sz="810" dirty="0"/>
          </a:p>
        </p:txBody>
      </p:sp>
      <p:sp>
        <p:nvSpPr>
          <p:cNvPr id="55" name="Text 53"/>
          <p:cNvSpPr/>
          <p:nvPr/>
        </p:nvSpPr>
        <p:spPr>
          <a:xfrm>
            <a:off x="6309360" y="2807208"/>
            <a:ext cx="205740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MLP</a:t>
            </a:r>
            <a:endParaRPr lang="en-US" sz="810" dirty="0"/>
          </a:p>
        </p:txBody>
      </p:sp>
      <p:sp>
        <p:nvSpPr>
          <p:cNvPr id="56" name="Text 54"/>
          <p:cNvSpPr/>
          <p:nvPr/>
        </p:nvSpPr>
        <p:spPr>
          <a:xfrm>
            <a:off x="8366760" y="2807208"/>
            <a:ext cx="8686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74.0543%</a:t>
            </a:r>
            <a:endParaRPr lang="en-US" sz="810" dirty="0"/>
          </a:p>
        </p:txBody>
      </p:sp>
      <p:sp>
        <p:nvSpPr>
          <p:cNvPr id="57" name="Text 55"/>
          <p:cNvSpPr/>
          <p:nvPr/>
        </p:nvSpPr>
        <p:spPr>
          <a:xfrm>
            <a:off x="9235440" y="2807208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.646</a:t>
            </a:r>
            <a:endParaRPr lang="en-US" sz="810" dirty="0"/>
          </a:p>
        </p:txBody>
      </p:sp>
      <p:sp>
        <p:nvSpPr>
          <p:cNvPr id="58" name="Text 56"/>
          <p:cNvSpPr/>
          <p:nvPr/>
        </p:nvSpPr>
        <p:spPr>
          <a:xfrm>
            <a:off x="9829800" y="2807208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.600</a:t>
            </a:r>
            <a:endParaRPr lang="en-US" sz="810" dirty="0"/>
          </a:p>
        </p:txBody>
      </p:sp>
      <p:sp>
        <p:nvSpPr>
          <p:cNvPr id="59" name="Text 57"/>
          <p:cNvSpPr/>
          <p:nvPr/>
        </p:nvSpPr>
        <p:spPr>
          <a:xfrm>
            <a:off x="10424160" y="2807208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.622</a:t>
            </a:r>
            <a:endParaRPr lang="en-US" sz="810" dirty="0"/>
          </a:p>
        </p:txBody>
      </p:sp>
      <p:sp>
        <p:nvSpPr>
          <p:cNvPr id="60" name="Text 58"/>
          <p:cNvSpPr/>
          <p:nvPr/>
        </p:nvSpPr>
        <p:spPr>
          <a:xfrm>
            <a:off x="6309360" y="3200400"/>
            <a:ext cx="20574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ZeroR</a:t>
            </a:r>
            <a:endParaRPr lang="en-US" sz="810" dirty="0"/>
          </a:p>
        </p:txBody>
      </p:sp>
      <p:sp>
        <p:nvSpPr>
          <p:cNvPr id="61" name="Text 59"/>
          <p:cNvSpPr/>
          <p:nvPr/>
        </p:nvSpPr>
        <p:spPr>
          <a:xfrm>
            <a:off x="8366760" y="3200400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64.4326%</a:t>
            </a:r>
            <a:endParaRPr lang="en-US" sz="810" dirty="0"/>
          </a:p>
        </p:txBody>
      </p:sp>
      <p:sp>
        <p:nvSpPr>
          <p:cNvPr id="62" name="Text 60"/>
          <p:cNvSpPr/>
          <p:nvPr/>
        </p:nvSpPr>
        <p:spPr>
          <a:xfrm>
            <a:off x="9235440" y="3200400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.000</a:t>
            </a:r>
            <a:endParaRPr lang="en-US" sz="810" dirty="0"/>
          </a:p>
        </p:txBody>
      </p:sp>
      <p:sp>
        <p:nvSpPr>
          <p:cNvPr id="63" name="Text 61"/>
          <p:cNvSpPr/>
          <p:nvPr/>
        </p:nvSpPr>
        <p:spPr>
          <a:xfrm>
            <a:off x="9829800" y="3200400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.000</a:t>
            </a:r>
            <a:endParaRPr lang="en-US" sz="810" dirty="0"/>
          </a:p>
        </p:txBody>
      </p:sp>
      <p:sp>
        <p:nvSpPr>
          <p:cNvPr id="64" name="Text 62"/>
          <p:cNvSpPr/>
          <p:nvPr/>
        </p:nvSpPr>
        <p:spPr>
          <a:xfrm>
            <a:off x="10424160" y="3200400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0F172A"/>
                </a:solidFill>
              </a:rPr>
              <a:t>.000</a:t>
            </a:r>
            <a:endParaRPr lang="en-US" sz="810" dirty="0"/>
          </a:p>
        </p:txBody>
      </p:sp>
      <p:sp>
        <p:nvSpPr>
          <p:cNvPr id="65" name="Text 63"/>
          <p:cNvSpPr/>
          <p:nvPr/>
        </p:nvSpPr>
        <p:spPr>
          <a:xfrm>
            <a:off x="1005840" y="5074920"/>
            <a:ext cx="9875520" cy="4114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</a:rPr>
              <a:t>Skipped/unavailable algorithms were recorded as skipped audit entries, not failed performance results.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64748B"/>
                </a:solidFill>
              </a:rPr>
              <a:t>26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Academic Performance ML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Academic Performance ML Research - Reference-Based Presentation</dc:title>
  <dc:subject>Academic Performance Machine Learning Research</dc:subject>
  <dc:creator>ChatGPT</dc:creator>
  <cp:lastModifiedBy>ChatGPT</cp:lastModifiedBy>
  <cp:revision>1</cp:revision>
  <dcterms:created xsi:type="dcterms:W3CDTF">2026-09-05T15:59:42Z</dcterms:created>
  <dcterms:modified xsi:type="dcterms:W3CDTF">2026-09-05T15:59:42Z</dcterms:modified>
</cp:coreProperties>
</file>